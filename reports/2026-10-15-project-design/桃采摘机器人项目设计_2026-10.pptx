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提交数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6755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W34</c:v>
                  </c:pt>
                  <c:pt idx="1">
                    <c:v>W35</c:v>
                  </c:pt>
                  <c:pt idx="2">
                    <c:v>W36</c:v>
                  </c:pt>
                  <c:pt idx="3">
                    <c:v>W37</c:v>
                  </c:pt>
                  <c:pt idx="4">
                    <c:v>W38</c:v>
                  </c:pt>
                  <c:pt idx="5">
                    <c:v>W39</c:v>
                  </c:pt>
                  <c:pt idx="6">
                    <c:v>W40</c:v>
                  </c:pt>
                  <c:pt idx="7">
                    <c:v>W41</c:v>
                  </c:pt>
                  <c:pt idx="8">
                    <c:v>W42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</c:v>
                </c:pt>
                <c:pt idx="1">
                  <c:v>2</c:v>
                </c:pt>
                <c:pt idx="2">
                  <c:v>9</c:v>
                </c:pt>
                <c:pt idx="3">
                  <c:v>15</c:v>
                </c:pt>
                <c:pt idx="4">
                  <c:v>71</c:v>
                </c:pt>
                <c:pt idx="5">
                  <c:v>56</c:v>
                </c:pt>
                <c:pt idx="6">
                  <c:v>13</c:v>
                </c:pt>
                <c:pt idx="7">
                  <c:v>17</c:v>
                </c:pt>
                <c:pt idx="8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6755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5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封面：项目设计 + 近两月工程演进。数据源：git log --since 2026-08-15（205 提交、2558 文件、183 万行入库）；runs/ 60 个会话 mcap。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六个部分：设计、栈与安全、感知运动、工具测试、仿真、数据与路线。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总纲要点：单机产品线、套袋桃基准工艺、五级工作对象与四类不可替代结果。来源 peach_autonomous_harvest_design/01。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模块按职责归四组呈现；来源 02_modules_and_boundaries.md。底部为主线原则（总纲 §4）。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W01-W08 来自 03_architecture_and_workflow.md；工作点内循环（W04-W06）、跨点循环（W07-W08）。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硬件=固定座 E5+双相机前端；软件=Jazzy 全 apt；工作区四分组，驱动只读。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三层安全来自 AGENTS.md 第 2 章；使能链路为清洁重写轮现行口径。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log --since=2026-08-15：205 提交；峰值 W38/W39=双末端战役+重构期。时间线按提交主题归并。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图为真实测试素材：stereo_cmp=peach_stereo 测试报告四窗格对比；masks=10-14 会话 712 帧掩膜序列中段帧；yolo_val=runs/pose/val。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四代轨迹演进：v2 证伪 1/30 → v3 滚转梯子 63% → v4 入冠 71.3%（网格 18/20、走廊 13/13）→ v4d blend 连续。图为 10-12 冻结链 RViz 录屏帧。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938b5df/1aa50d0（09-28）：三剪切手档案 v1.2；TCP 数值为测量核定值。bite 为 10-13 操作员裁定默认档。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金字塔=AGENTS 第 10 章口径；数据卡全部来自提交与测试记录（517/E2E64/launch5/852帧/回放塔51/M1-M5 归因）。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四轮真机记录：S3 首抓 9.4s（4b5936c）、S4 FULL、冻结 v1 28.4s×4（runs/frozen_v1_* ledger）、10-14 专项（runs/live_cam_shear 等）。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P1-P4b=3eedfb2→98aa8ce（10-13/14）。图为重建果园真实渲染与光照检查板（sim_worlds reconstruction output）。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观测性四层=决策 0034-0037（09-29）落地；web 截图为 .playwright-mcp 实拍。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对比表全部来自提交记录与 runs 账本；28.4s 数据=frozen_v1 四轮 ledger 均值。视频同目录交付。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G0-G4=05_delivery_roadmap；状态标注为 06_current_progress_mapping 的进度线索（不宣称百分比）。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尾页摘要 + 安全声明。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jp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u/Desktop/aubo_e5_jazzy_ws/reports/2026-10-15-project-design/assets/sim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0"/>
            <a:ext cx="51508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40880" y="0"/>
            <a:ext cx="5150815" cy="6858000"/>
          </a:xfrm>
          <a:prstGeom prst="rect">
            <a:avLst/>
          </a:prstGeom>
          <a:solidFill>
            <a:srgbClr val="1E3B24">
              <a:alpha val="5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85800" y="10515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 · 自主采摘机器人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桃套袋采摘机器人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项目设计报告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85800" y="35661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自主导航 · 感知建模 · 剪切采摘 · 收集物流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40416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项目设计定稿 2026-10 · 工程演进复盘 2026-08-15 → 2026-10-15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85800" y="55595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笔提交（近两月）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286000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1.83M+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286000" y="55595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行代码入库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86200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886200" y="55595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工作区能力包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0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486400" y="55595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会话数据包 MCAP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31575" y="347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93392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159813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28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项目设计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45920" y="228600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产品目标 · 用户与职责 · 12 模块架构 · 完整作业闭环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81928" y="1627632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993392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215981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1828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技术栈与安全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360920" y="228600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硬件与软件栈 · 工作区布局 · 三层安全与使能门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66928" y="32004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35661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373258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401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感知与运动设计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645920" y="385876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停走式感知管线 · 接近轨迹四代演进 · 执行命令门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81928" y="32004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37960" y="35661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373258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3401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工具与测试体系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360920" y="385876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三把剪切手 · 测试金字塔 · 真机验证记录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66928" y="4773168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22960" y="5138928"/>
            <a:ext cx="640080" cy="640080"/>
          </a:xfrm>
          <a:prstGeom prst="ellipse">
            <a:avLst/>
          </a:prstGeom>
          <a:solidFill>
            <a:srgbClr val="C96F4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1" y="5305349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497433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仿真体系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1645920" y="543153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src/sim 五包 · 统一机体 · 感知闭环 · 自主导航采摘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281928" y="4773168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537960" y="5138928"/>
            <a:ext cx="640080" cy="640080"/>
          </a:xfrm>
          <a:prstGeom prst="ellipse">
            <a:avLst/>
          </a:prstGeom>
          <a:solidFill>
            <a:srgbClr val="C96F4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381" y="5305349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360920" y="497433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演进数据与路线图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7360920" y="543153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两月提交曲线 · 优化前后对比 · G0-G4 建设路线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PROJECT BLUEPRINT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产品目标：一条完整的移动采摘产品线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31575" y="347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55778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81051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649" y="195791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47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目标定位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395728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在指定果园工作区完成自主导航、作业点定位、目标发现、选择性剪切采摘、承接收集与异常恢复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基准工艺：套袋桃剪切采摘；首版单机产品线，多机协作仅留扩展边界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完整范围：底盘、定位传感、近场视觉、机械臂、工具、承接容器、卸载/补能与操作台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现场运动与恢复不依赖云或网页持续在线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4617720"/>
            <a:ext cx="5577840" cy="1691640"/>
          </a:xfrm>
          <a:prstGeom prst="roundRect">
            <a:avLst>
              <a:gd name="adj" fmla="val 4865"/>
            </a:avLst>
          </a:prstGeom>
          <a:solidFill>
            <a:srgbClr val="F3F7F1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4773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五级工作对象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5193792"/>
            <a:ext cx="932688" cy="475488"/>
          </a:xfrm>
          <a:prstGeom prst="roundRect">
            <a:avLst>
              <a:gd name="adj" fmla="val 15385"/>
            </a:avLst>
          </a:prstGeom>
          <a:solidFill>
            <a:srgbClr val="2C5F2D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193792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果园任务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737360" y="5193792"/>
            <a:ext cx="182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883664" y="5193792"/>
            <a:ext cx="932688" cy="475488"/>
          </a:xfrm>
          <a:prstGeom prst="roundRect">
            <a:avLst>
              <a:gd name="adj" fmla="val 15385"/>
            </a:avLst>
          </a:prstGeom>
          <a:solidFill>
            <a:srgbClr val="2C5F2D"/>
          </a:solidFill>
          <a:ln/>
        </p:spPr>
      </p:sp>
      <p:sp>
        <p:nvSpPr>
          <p:cNvPr id="16" name="Text 13"/>
          <p:cNvSpPr/>
          <p:nvPr/>
        </p:nvSpPr>
        <p:spPr>
          <a:xfrm>
            <a:off x="1883664" y="5193792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行/分区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798064" y="5193792"/>
            <a:ext cx="182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944368" y="5193792"/>
            <a:ext cx="932688" cy="475488"/>
          </a:xfrm>
          <a:prstGeom prst="roundRect">
            <a:avLst>
              <a:gd name="adj" fmla="val 15385"/>
            </a:avLst>
          </a:prstGeom>
          <a:solidFill>
            <a:srgbClr val="2C5F2D"/>
          </a:solidFill>
          <a:ln/>
        </p:spPr>
      </p:sp>
      <p:sp>
        <p:nvSpPr>
          <p:cNvPr id="19" name="Text 16"/>
          <p:cNvSpPr/>
          <p:nvPr/>
        </p:nvSpPr>
        <p:spPr>
          <a:xfrm>
            <a:off x="2944368" y="5193792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作业点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858768" y="5193792"/>
            <a:ext cx="182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005072" y="5193792"/>
            <a:ext cx="932688" cy="475488"/>
          </a:xfrm>
          <a:prstGeom prst="roundRect">
            <a:avLst>
              <a:gd name="adj" fmla="val 15385"/>
            </a:avLst>
          </a:prstGeom>
          <a:solidFill>
            <a:srgbClr val="2C5F2D"/>
          </a:solidFill>
          <a:ln/>
        </p:spPr>
      </p:sp>
      <p:sp>
        <p:nvSpPr>
          <p:cNvPr id="22" name="Text 19"/>
          <p:cNvSpPr/>
          <p:nvPr/>
        </p:nvSpPr>
        <p:spPr>
          <a:xfrm>
            <a:off x="4005072" y="5193792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单果周期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919472" y="5193792"/>
            <a:ext cx="182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65776" y="5193792"/>
            <a:ext cx="932688" cy="475488"/>
          </a:xfrm>
          <a:prstGeom prst="roundRect">
            <a:avLst>
              <a:gd name="adj" fmla="val 15385"/>
            </a:avLst>
          </a:prstGeom>
          <a:solidFill>
            <a:srgbClr val="C96F4A"/>
          </a:solidFill>
          <a:ln/>
        </p:spPr>
      </p:sp>
      <p:sp>
        <p:nvSpPr>
          <p:cNvPr id="25" name="Text 22"/>
          <p:cNvSpPr/>
          <p:nvPr/>
        </p:nvSpPr>
        <p:spPr>
          <a:xfrm>
            <a:off x="5065776" y="5193792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动作阶段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2960" y="58155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导航成功、剪切指令受理、采摘确认、入箱确认——四类结果不可互相替代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400800" y="1554480"/>
            <a:ext cx="5193792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620256" y="178308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657" y="1930481"/>
            <a:ext cx="272125" cy="272125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333488" y="16642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作业员</a:t>
            </a:r>
            <a:endParaRPr lang="en-US" sz="1450" dirty="0"/>
          </a:p>
        </p:txBody>
      </p:sp>
      <p:sp>
        <p:nvSpPr>
          <p:cNvPr id="31" name="Text 27"/>
          <p:cNvSpPr/>
          <p:nvPr/>
        </p:nvSpPr>
        <p:spPr>
          <a:xfrm>
            <a:off x="7333488" y="20299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设置区域与任务 · 核对现场 · 发起/暂停/取消 · 换箱与必要恢复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400800" y="2761488"/>
            <a:ext cx="5193792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620256" y="2990088"/>
            <a:ext cx="566928" cy="566928"/>
          </a:xfrm>
          <a:prstGeom prst="ellipse">
            <a:avLst/>
          </a:prstGeom>
          <a:solidFill>
            <a:srgbClr val="C96F4A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657" y="3137489"/>
            <a:ext cx="272125" cy="272125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333488" y="28712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维护人员</a:t>
            </a:r>
            <a:endParaRPr lang="en-US" sz="1450" dirty="0"/>
          </a:p>
        </p:txBody>
      </p:sp>
      <p:sp>
        <p:nvSpPr>
          <p:cNvPr id="36" name="Text 31"/>
          <p:cNvSpPr/>
          <p:nvPr/>
        </p:nvSpPr>
        <p:spPr>
          <a:xfrm>
            <a:off x="7333488" y="323697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设备与标定 · 工具与地图站点维护 · 受控配置变更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6400800" y="3968496"/>
            <a:ext cx="5193792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6620256" y="4197096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657" y="4344497"/>
            <a:ext cx="272125" cy="272125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333488" y="40782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研发人员</a:t>
            </a:r>
            <a:endParaRPr lang="en-US" sz="1450" dirty="0"/>
          </a:p>
        </p:txBody>
      </p:sp>
      <p:sp>
        <p:nvSpPr>
          <p:cNvPr id="41" name="Text 35"/>
          <p:cNvSpPr/>
          <p:nvPr/>
        </p:nvSpPr>
        <p:spPr>
          <a:xfrm>
            <a:off x="7333488" y="444398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模块验证 · 仿真/回放 · 故障复现与结果对照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6400800" y="5175504"/>
            <a:ext cx="5193792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6620256" y="5404104"/>
            <a:ext cx="566928" cy="566928"/>
          </a:xfrm>
          <a:prstGeom prst="ellipse">
            <a:avLst/>
          </a:prstGeom>
          <a:solidFill>
            <a:srgbClr val="C96F4A"/>
          </a:solidFill>
          <a:ln/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657" y="5551505"/>
            <a:ext cx="272125" cy="272125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7333488" y="5285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项目管理人员</a:t>
            </a:r>
            <a:endParaRPr lang="en-US" sz="1450" dirty="0"/>
          </a:p>
        </p:txBody>
      </p:sp>
      <p:sp>
        <p:nvSpPr>
          <p:cNvPr id="46" name="Text 39"/>
          <p:cNvSpPr/>
          <p:nvPr/>
        </p:nvSpPr>
        <p:spPr>
          <a:xfrm>
            <a:off x="7333488" y="56509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任务质量与遗漏 · 效率与资源 · 人工介入与验收进度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系统架构：12 模块与责任边界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31575" y="347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743200" cy="3749040"/>
          </a:xfrm>
          <a:prstGeom prst="roundRect">
            <a:avLst>
              <a:gd name="adj" fmla="val 3000"/>
            </a:avLst>
          </a:prstGeom>
          <a:solidFill>
            <a:srgbClr val="F3F7F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19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资源与调度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2414016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249424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99616" y="2249424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果园与作业资源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731520" y="2980944"/>
            <a:ext cx="2414016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0358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99616" y="303580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任务与全局调度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31520" y="3767328"/>
            <a:ext cx="2414016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82219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99616" y="3822192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定位与自主导航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31520" y="4553712"/>
            <a:ext cx="2414016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60857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99616" y="4608576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作业点定位与作业交接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474720" y="1572768"/>
            <a:ext cx="2743200" cy="3749040"/>
          </a:xfrm>
          <a:prstGeom prst="roundRect">
            <a:avLst>
              <a:gd name="adj" fmla="val 3000"/>
            </a:avLst>
          </a:prstGeom>
          <a:solidFill>
            <a:srgbClr val="F3F7F1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1719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感知与建模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3639312" y="2194560"/>
            <a:ext cx="2414016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4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249424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07408" y="2249424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场景感知与目标发现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3639312" y="2980944"/>
            <a:ext cx="2414016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0358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407408" y="303580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局部建模与操作条件评估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3639312" y="3840480"/>
            <a:ext cx="2414016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9525">
            <a:solidFill>
              <a:srgbClr val="D9E4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67328" y="39319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职责原则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767328" y="426110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感知只产出事实（目标/位姿/质量）；模型把事实转成可操作条件（可达性/余量/许可）。感知不发运动、不选下一颗、不写账本。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382512" y="1572768"/>
            <a:ext cx="2743200" cy="3749040"/>
          </a:xfrm>
          <a:prstGeom prst="roundRect">
            <a:avLst>
              <a:gd name="adj" fmla="val 3000"/>
            </a:avLst>
          </a:prstGeom>
          <a:solidFill>
            <a:srgbClr val="F3F7F1"/>
          </a:solidFill>
          <a:ln/>
        </p:spPr>
      </p:sp>
      <p:sp>
        <p:nvSpPr>
          <p:cNvPr id="31" name="Text 29"/>
          <p:cNvSpPr/>
          <p:nvPr/>
        </p:nvSpPr>
        <p:spPr>
          <a:xfrm>
            <a:off x="6565392" y="1719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执行与工具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547104" y="2194560"/>
            <a:ext cx="2414016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4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56832" y="2249424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M07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315200" y="2249424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采摘策略与单果调度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6547104" y="2980944"/>
            <a:ext cx="2414016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6832" y="30358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M08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315200" y="303580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机械臂规划与运动执行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6547104" y="3767328"/>
            <a:ext cx="2414016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4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56832" y="382219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315200" y="3822192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末端工具与采摘验证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6565392" y="464515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剪切、带离、承接、释放分别保留结果证据；结果未知进入受控恢复。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290304" y="1572768"/>
            <a:ext cx="2743200" cy="3749040"/>
          </a:xfrm>
          <a:prstGeom prst="roundRect">
            <a:avLst>
              <a:gd name="adj" fmla="val 3000"/>
            </a:avLst>
          </a:prstGeom>
          <a:solidFill>
            <a:srgbClr val="F3F7F1"/>
          </a:solidFill>
          <a:ln/>
        </p:spPr>
      </p:sp>
      <p:sp>
        <p:nvSpPr>
          <p:cNvPr id="43" name="Text 41"/>
          <p:cNvSpPr/>
          <p:nvPr/>
        </p:nvSpPr>
        <p:spPr>
          <a:xfrm>
            <a:off x="9473184" y="1719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支撑与闭环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9454896" y="2194560"/>
            <a:ext cx="2414016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4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64624" y="2249424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M10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0222992" y="2249424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收集物流与资源管理</a:t>
            </a:r>
            <a:endParaRPr lang="en-US" sz="1030" dirty="0"/>
          </a:p>
        </p:txBody>
      </p:sp>
      <p:sp>
        <p:nvSpPr>
          <p:cNvPr id="47" name="Shape 45"/>
          <p:cNvSpPr/>
          <p:nvPr/>
        </p:nvSpPr>
        <p:spPr>
          <a:xfrm>
            <a:off x="9454896" y="2980944"/>
            <a:ext cx="2414016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4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64624" y="30358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M11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0222992" y="303580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运行权限、健康与恢复</a:t>
            </a:r>
            <a:endParaRPr lang="en-US" sz="1030" dirty="0"/>
          </a:p>
        </p:txBody>
      </p:sp>
      <p:sp>
        <p:nvSpPr>
          <p:cNvPr id="50" name="Shape 48"/>
          <p:cNvSpPr/>
          <p:nvPr/>
        </p:nvSpPr>
        <p:spPr>
          <a:xfrm>
            <a:off x="9454896" y="3767328"/>
            <a:ext cx="2414016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4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64624" y="382219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M12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0222992" y="3822192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数据闭环与 Web 工作台</a:t>
            </a:r>
            <a:endParaRPr lang="en-US" sz="1030" dirty="0"/>
          </a:p>
        </p:txBody>
      </p:sp>
      <p:sp>
        <p:nvSpPr>
          <p:cNvPr id="53" name="Text 51"/>
          <p:cNvSpPr/>
          <p:nvPr/>
        </p:nvSpPr>
        <p:spPr>
          <a:xfrm>
            <a:off x="9473184" y="464515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任务/工作点/单果/物流状态不混写；Web 表达意图不承载权威。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66928" y="5532120"/>
            <a:ext cx="11045952" cy="868680"/>
          </a:xfrm>
          <a:prstGeom prst="roundRect">
            <a:avLst>
              <a:gd name="adj" fmla="val 9474"/>
            </a:avLst>
          </a:prstGeom>
          <a:solidFill>
            <a:srgbClr val="1E3B24"/>
          </a:solidFill>
          <a:ln/>
        </p:spPr>
      </p:sp>
      <p:sp>
        <p:nvSpPr>
          <p:cNvPr id="55" name="Shape 53"/>
          <p:cNvSpPr/>
          <p:nvPr/>
        </p:nvSpPr>
        <p:spPr>
          <a:xfrm>
            <a:off x="804672" y="5705856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09" y="5838993"/>
            <a:ext cx="245791" cy="245791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1481328" y="55321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架构主线：感知产出事实 → 模型产出可操作条件 → 业务作决定 → 执行侧复核并输出运动/工具命令；上级协调、下级完成能力任务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完整作业闭环：W01 → W08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31575" y="347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64792"/>
            <a:ext cx="603504" cy="6035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64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35608" y="17465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任务准备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49631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区域/任务账本建立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9856" y="160020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4448" y="1764792"/>
            <a:ext cx="603504" cy="6035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3584448" y="1764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88536" y="17465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导航到作业点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02736" y="249631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 Nav2 承担导航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2784" y="160020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37376" y="1764792"/>
            <a:ext cx="603504" cy="6035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1764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41464" y="17465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稳定与工作交接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55664" y="249631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移动-采摘互斥解除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25712" y="160020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90304" y="1764792"/>
            <a:ext cx="603504" cy="6035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9290304" y="1764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994392" y="17465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观察建模选果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08592" y="249631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感知事实+操作条件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38328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547872"/>
            <a:ext cx="603504" cy="603504"/>
          </a:xfrm>
          <a:prstGeom prst="ellipse">
            <a:avLst/>
          </a:prstGeom>
          <a:solidFill>
            <a:srgbClr val="C96F4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5478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435608" y="352958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执行单果周期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49808" y="427939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接近/套入/剪切/撤离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19856" y="338328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84448" y="3547872"/>
            <a:ext cx="603504" cy="603504"/>
          </a:xfrm>
          <a:prstGeom prst="ellipse">
            <a:avLst/>
          </a:prstGeom>
          <a:solidFill>
            <a:srgbClr val="C96F4A"/>
          </a:solidFill>
          <a:ln/>
        </p:spPr>
      </p:sp>
      <p:sp>
        <p:nvSpPr>
          <p:cNvPr id="32" name="Text 30"/>
          <p:cNvSpPr/>
          <p:nvPr/>
        </p:nvSpPr>
        <p:spPr>
          <a:xfrm>
            <a:off x="3584448" y="35478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W06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288536" y="352958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收集与单果结算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602736" y="427939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承接/入箱独立证据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72784" y="338328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37376" y="3547872"/>
            <a:ext cx="603504" cy="603504"/>
          </a:xfrm>
          <a:prstGeom prst="ellipse">
            <a:avLst/>
          </a:prstGeom>
          <a:solidFill>
            <a:srgbClr val="C96F4A"/>
          </a:solidFill>
          <a:ln/>
        </p:spPr>
      </p:sp>
      <p:sp>
        <p:nvSpPr>
          <p:cNvPr id="37" name="Text 35"/>
          <p:cNvSpPr/>
          <p:nvPr/>
        </p:nvSpPr>
        <p:spPr>
          <a:xfrm>
            <a:off x="6437376" y="35478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W07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141464" y="352958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资源处置离场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455664" y="427939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换箱/卸载/补能请求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125712" y="338328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290304" y="3547872"/>
            <a:ext cx="603504" cy="603504"/>
          </a:xfrm>
          <a:prstGeom prst="ellipse">
            <a:avLst/>
          </a:prstGeom>
          <a:solidFill>
            <a:srgbClr val="C96F4A"/>
          </a:solidFill>
          <a:ln/>
        </p:spPr>
      </p:sp>
      <p:sp>
        <p:nvSpPr>
          <p:cNvPr id="42" name="Text 40"/>
          <p:cNvSpPr/>
          <p:nvPr/>
        </p:nvSpPr>
        <p:spPr>
          <a:xfrm>
            <a:off x="9290304" y="35478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W08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994392" y="352958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推进与作业收尾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9308592" y="427939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跨点推进/异常恢复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6928" y="5349240"/>
            <a:ext cx="11045952" cy="1051560"/>
          </a:xfrm>
          <a:prstGeom prst="roundRect">
            <a:avLst>
              <a:gd name="adj" fmla="val 7826"/>
            </a:avLst>
          </a:prstGeom>
          <a:solidFill>
            <a:srgbClr val="F3F7F1"/>
          </a:solidFill>
          <a:ln/>
        </p:spPr>
      </p:sp>
      <p:sp>
        <p:nvSpPr>
          <p:cNvPr id="46" name="Text 44"/>
          <p:cNvSpPr/>
          <p:nvPr/>
        </p:nvSpPr>
        <p:spPr>
          <a:xfrm>
            <a:off x="804672" y="5486400"/>
            <a:ext cx="74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互斥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463040" y="54864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移动与臂采摘互斥，稳定交接后才作业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462272" y="5486400"/>
            <a:ext cx="74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恢复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120640" y="54864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结果未知进入受控恢复，不猜成功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119872" y="5486400"/>
            <a:ext cx="74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失效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778240" y="54864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地图/工具变化使旧模型与计划失效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现行技术栈与工作区布局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31575" y="347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50749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73936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564" y="1911828"/>
            <a:ext cx="254569" cy="254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8105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硬件基线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2304288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机械臂 AUBO E5 六轴 · 示教器上电/抱闸 · 驱动栈只读</a:t>
            </a:r>
            <a:endParaRPr lang="en-US" sz="11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相机 Percipio RGB-D（腕载）+ PS800-E1 主机立体（默认前端 stereo）</a:t>
            </a:r>
            <a:endParaRPr lang="en-US" sz="11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车载主控 Jetson Orin NX 16GB 整机栈 · RK3588 前端预留</a:t>
            </a:r>
            <a:endParaRPr lang="en-US" sz="11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末端：三把剪切手 + 快换（STW）+ IMU 自适应档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4023360"/>
            <a:ext cx="50749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4242816"/>
            <a:ext cx="530352" cy="530352"/>
          </a:xfrm>
          <a:prstGeom prst="ellipse">
            <a:avLst/>
          </a:prstGeom>
          <a:solidFill>
            <a:srgbClr val="C96F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564" y="4380708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427939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软件栈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41248" y="4773168"/>
            <a:ext cx="4526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Jazzy · C++17 · Python 3.12 · numpy 1.26.4（cv_bridge ABI 锁定）</a:t>
            </a:r>
            <a:endParaRPr lang="en-US" sz="11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 2 + MTC + Pilz（PTP/LIN/CIRC）· 透传控制器</a:t>
            </a:r>
            <a:endParaRPr lang="en-US" sz="11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生命周期 + Gazebo Harmonic（gz_ros2_control）</a:t>
            </a:r>
            <a:endParaRPr lang="en-US" sz="11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MCAP 会话记录 · FastDDS · industrial_ci（GitHub Actions）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943600" y="1554480"/>
            <a:ext cx="5669280" cy="4800600"/>
          </a:xfrm>
          <a:prstGeom prst="roundRect">
            <a:avLst>
              <a:gd name="adj" fmla="val 1714"/>
            </a:avLst>
          </a:prstGeom>
          <a:solidFill>
            <a:srgbClr val="F3F7F1"/>
          </a:solidFill>
          <a:ln/>
        </p:spPr>
      </p:sp>
      <p:sp>
        <p:nvSpPr>
          <p:cNvPr id="16" name="Text 12"/>
          <p:cNvSpPr/>
          <p:nvPr/>
        </p:nvSpPr>
        <p:spPr>
          <a:xfrm>
            <a:off x="6199632" y="17556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工作区分组（2026-10 重组）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172200" y="2231136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D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55080" y="22860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src/peach/ · 9 包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355080" y="2596896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现行采摘栈：interfaces / common / harvester（vision+supervisor+障碍） / arm / bringup / observability / vegetation / stereo / system_tests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172200" y="3182112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D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355080" y="323697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src/sim/ · 5 包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355080" y="3547872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仿真子工作空间：sim_worlds / sim_description / sim_bringup / sim_perception / sim_system_tests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172200" y="4133088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D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55080" y="4187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src/ivg/ · 演示栈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355080" y="4498848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IVG 抓取演示三包 + Gazebo 验证环境（不进 harvest_system）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172200" y="5084064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D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355080" y="51389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 顶层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355080" y="5449824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驱动九包（只读）+ serial_imu / imu_follow / percipio_camera / peach_web（8090）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199632" y="6035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包级活文档（doc/architecture.md + doc/io.md）为系统快照权威；peach2 已于 10-12 归档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安全与权限：三层分层 + 使能门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31575" y="347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66751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65376"/>
            <a:ext cx="603504" cy="603504"/>
          </a:xfrm>
          <a:prstGeom prst="ellipse">
            <a:avLst/>
          </a:prstGeom>
          <a:solidFill>
            <a:srgbClr val="1E3B2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583" y="202228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16642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功能安全（柜与示教器）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72768" y="20299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13850 急停 / ISO 10218 保护停止 / IEC 60204-1 停止类别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72768" y="235915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硬件急停不经 ROS · 切断驱动电源 · 不远程上电/解锁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2944368"/>
            <a:ext cx="66751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4672" y="3236976"/>
            <a:ext cx="603504" cy="60350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583" y="3393887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72768" y="30358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应用护栏（ROS 2 栈）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572768" y="34015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ExecutionAuthority 使能门 · 命令超时与 bond 心跳 · 规划碰撞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572768" y="373075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单一命令门：enables × clearance × robotReady × ¬cancel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6928" y="4315968"/>
            <a:ext cx="66751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4672" y="4608576"/>
            <a:ext cx="603504" cy="603504"/>
          </a:xfrm>
          <a:prstGeom prst="ellipse">
            <a:avLst/>
          </a:prstGeom>
          <a:solidFill>
            <a:srgbClr val="C96F4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83" y="4765487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72768" y="44074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网络安全（边界）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572768" y="47731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SROS2/DDS-Security 可选 · 网页仅表达意图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572768" y="510235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不是功能安全 · 挡不住臂已在动 · 页面关闭≠任务结束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498080" y="1572768"/>
            <a:ext cx="4114800" cy="3950208"/>
          </a:xfrm>
          <a:prstGeom prst="roundRect">
            <a:avLst>
              <a:gd name="adj" fmla="val 2083"/>
            </a:avLst>
          </a:prstGeom>
          <a:solidFill>
            <a:srgbClr val="1E3B24"/>
          </a:solidFill>
          <a:ln/>
        </p:spPr>
      </p:sp>
      <p:sp>
        <p:nvSpPr>
          <p:cNvPr id="24" name="Shape 19"/>
          <p:cNvSpPr/>
          <p:nvPr/>
        </p:nvSpPr>
        <p:spPr>
          <a:xfrm>
            <a:off x="7735824" y="1810512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8961" y="1943649"/>
            <a:ext cx="245791" cy="24579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394192" y="184708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红线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772400" y="2395728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7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未授权不得真机运动或 SetIO（操作员发起 real 指令 = 授权）</a:t>
            </a:r>
            <a:endParaRPr lang="en-US" sz="1080" dirty="0"/>
          </a:p>
          <a:p>
            <a:pPr algn="l"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7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硬件急停不经 ROS；软件停轨不称 e-stop</a:t>
            </a:r>
            <a:endParaRPr lang="en-US" sz="1080" dirty="0"/>
          </a:p>
          <a:p>
            <a:pPr algn="l"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7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驱动栈九包只读；bringup 不起 dashboard</a:t>
            </a:r>
            <a:endParaRPr lang="en-US" sz="1080" dirty="0"/>
          </a:p>
          <a:p>
            <a:pPr algn="l"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7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保护停止/急停后不 resume 原轨迹</a:t>
            </a:r>
            <a:endParaRPr lang="en-US" sz="1080" dirty="0"/>
          </a:p>
          <a:p>
            <a:pPr algn="l"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7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刀具与动臂同级危险：tool.enabled 默认关</a:t>
            </a:r>
            <a:endParaRPr lang="en-US" sz="1080" dirty="0"/>
          </a:p>
          <a:p>
            <a:pPr algn="l"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7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任何测试结束停干净并 pgrep 清进程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566928" y="5742432"/>
            <a:ext cx="11045952" cy="731520"/>
          </a:xfrm>
          <a:prstGeom prst="roundRect">
            <a:avLst>
              <a:gd name="adj" fmla="val 11250"/>
            </a:avLst>
          </a:prstGeom>
          <a:solidFill>
            <a:srgbClr val="F3F7F1"/>
          </a:solidFill>
          <a:ln/>
        </p:spPr>
      </p:sp>
      <p:sp>
        <p:nvSpPr>
          <p:cNvPr id="29" name="Text 23"/>
          <p:cNvSpPr/>
          <p:nvPr/>
        </p:nvSpPr>
        <p:spPr>
          <a:xfrm>
            <a:off x="822960" y="57424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使能链路：操作台 SetEnables（意图源 supervisor）→ /peach/batch/enables 广播 → 臂侧命令门强制；无广播时臂侧本地参数权威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EVOLUTION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近两月工程演进：205 笔提交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31575" y="347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539496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00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周度提交数（2026 W34–W42）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2103120"/>
          <a:ext cx="498348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44768" y="1572768"/>
            <a:ext cx="896112" cy="438912"/>
          </a:xfrm>
          <a:prstGeom prst="roundRect">
            <a:avLst>
              <a:gd name="adj" fmla="val 14583"/>
            </a:avLst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6144768" y="1572768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09-20/21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178040" y="153619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质量重构 W1–W16 + 感知优化轮：517 测 0 败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0" y="2011680"/>
            <a:ext cx="0" cy="109728"/>
          </a:xfrm>
          <a:prstGeom prst="line">
            <a:avLst/>
          </a:prstGeom>
          <a:noFill/>
          <a:ln w="19050">
            <a:solidFill>
              <a:srgbClr val="D9E4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44768" y="2121408"/>
            <a:ext cx="896112" cy="438912"/>
          </a:xfrm>
          <a:prstGeom prst="roundRect">
            <a:avLst>
              <a:gd name="adj" fmla="val 14583"/>
            </a:avLst>
          </a:prstGeom>
          <a:solidFill>
            <a:srgbClr val="C96F4A"/>
          </a:solidFill>
          <a:ln/>
        </p:spPr>
      </p:sp>
      <p:sp>
        <p:nvSpPr>
          <p:cNvPr id="13" name="Text 10"/>
          <p:cNvSpPr/>
          <p:nvPr/>
        </p:nvSpPr>
        <p:spPr>
          <a:xfrm>
            <a:off x="6144768" y="2121408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09-22/24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178040" y="208483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双末端战役 + E2E 方案 + 轨迹 v3/v4 + 真机首抓 9.4s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2560320"/>
            <a:ext cx="0" cy="109728"/>
          </a:xfrm>
          <a:prstGeom prst="line">
            <a:avLst/>
          </a:prstGeom>
          <a:noFill/>
          <a:ln w="19050">
            <a:solidFill>
              <a:srgbClr val="D9E4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44768" y="2670048"/>
            <a:ext cx="896112" cy="438912"/>
          </a:xfrm>
          <a:prstGeom prst="roundRect">
            <a:avLst>
              <a:gd name="adj" fmla="val 14583"/>
            </a:avLst>
          </a:prstGeom>
          <a:solidFill>
            <a:srgbClr val="2C5F2D"/>
          </a:solidFill>
          <a:ln/>
        </p:spPr>
      </p:sp>
      <p:sp>
        <p:nvSpPr>
          <p:cNvPr id="17" name="Text 14"/>
          <p:cNvSpPr/>
          <p:nvPr/>
        </p:nvSpPr>
        <p:spPr>
          <a:xfrm>
            <a:off x="6144768" y="2670048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09-28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178040" y="263347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三把剪切手 STEP→URDF · 感知矩阵 852 帧 GATE PASS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583680" y="3108960"/>
            <a:ext cx="0" cy="109728"/>
          </a:xfrm>
          <a:prstGeom prst="line">
            <a:avLst/>
          </a:prstGeom>
          <a:noFill/>
          <a:ln w="19050">
            <a:solidFill>
              <a:srgbClr val="D9E4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44768" y="3218688"/>
            <a:ext cx="896112" cy="438912"/>
          </a:xfrm>
          <a:prstGeom prst="roundRect">
            <a:avLst>
              <a:gd name="adj" fmla="val 14583"/>
            </a:avLst>
          </a:prstGeom>
          <a:solidFill>
            <a:srgbClr val="C96F4A"/>
          </a:solidFill>
          <a:ln/>
        </p:spPr>
      </p:sp>
      <p:sp>
        <p:nvSpPr>
          <p:cNvPr id="21" name="Text 18"/>
          <p:cNvSpPr/>
          <p:nvPr/>
        </p:nvSpPr>
        <p:spPr>
          <a:xfrm>
            <a:off x="6144768" y="3218688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09-29/30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178040" y="318211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观测性四层全节点 + IVG 重构 + peach2 运动后端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583680" y="3657600"/>
            <a:ext cx="0" cy="109728"/>
          </a:xfrm>
          <a:prstGeom prst="line">
            <a:avLst/>
          </a:prstGeom>
          <a:noFill/>
          <a:ln w="19050">
            <a:solidFill>
              <a:srgbClr val="D9E4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44768" y="3767328"/>
            <a:ext cx="896112" cy="438912"/>
          </a:xfrm>
          <a:prstGeom prst="roundRect">
            <a:avLst>
              <a:gd name="adj" fmla="val 14583"/>
            </a:avLst>
          </a:prstGeom>
          <a:solidFill>
            <a:srgbClr val="2C5F2D"/>
          </a:solidFill>
          <a:ln/>
        </p:spPr>
      </p:sp>
      <p:sp>
        <p:nvSpPr>
          <p:cNvPr id="25" name="Text 22"/>
          <p:cNvSpPr/>
          <p:nvPr/>
        </p:nvSpPr>
        <p:spPr>
          <a:xfrm>
            <a:off x="6144768" y="3767328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10-08/10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178040" y="373075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文档重组：包级活文档 + 工作区分组 + runs 清理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583680" y="4206240"/>
            <a:ext cx="0" cy="109728"/>
          </a:xfrm>
          <a:prstGeom prst="line">
            <a:avLst/>
          </a:prstGeom>
          <a:noFill/>
          <a:ln w="19050">
            <a:solidFill>
              <a:srgbClr val="D9E4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44768" y="4315968"/>
            <a:ext cx="896112" cy="438912"/>
          </a:xfrm>
          <a:prstGeom prst="roundRect">
            <a:avLst>
              <a:gd name="adj" fmla="val 14583"/>
            </a:avLst>
          </a:prstGeom>
          <a:solidFill>
            <a:srgbClr val="C96F4A"/>
          </a:solidFill>
          <a:ln/>
        </p:spPr>
      </p:sp>
      <p:sp>
        <p:nvSpPr>
          <p:cNvPr id="29" name="Text 26"/>
          <p:cNvSpPr/>
          <p:nvPr/>
        </p:nvSpPr>
        <p:spPr>
          <a:xfrm>
            <a:off x="6144768" y="4315968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10-12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178040" y="427939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冻结相机 v1/v2 对比 + 深度清理（peach2 归档）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583680" y="4754880"/>
            <a:ext cx="0" cy="109728"/>
          </a:xfrm>
          <a:prstGeom prst="line">
            <a:avLst/>
          </a:prstGeom>
          <a:noFill/>
          <a:ln w="19050">
            <a:solidFill>
              <a:srgbClr val="D9E4D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144768" y="4864608"/>
            <a:ext cx="896112" cy="438912"/>
          </a:xfrm>
          <a:prstGeom prst="roundRect">
            <a:avLst>
              <a:gd name="adj" fmla="val 14583"/>
            </a:avLst>
          </a:prstGeom>
          <a:solidFill>
            <a:srgbClr val="2C5F2D"/>
          </a:solidFill>
          <a:ln/>
        </p:spPr>
      </p:sp>
      <p:sp>
        <p:nvSpPr>
          <p:cNvPr id="33" name="Text 30"/>
          <p:cNvSpPr/>
          <p:nvPr/>
        </p:nvSpPr>
        <p:spPr>
          <a:xfrm>
            <a:off x="6144768" y="4864608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10-13/14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178040" y="482803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仿真链 P1→P4b：统一机体→感知闭环→自主导航采摘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66928" y="5504688"/>
            <a:ext cx="11045952" cy="932688"/>
          </a:xfrm>
          <a:prstGeom prst="roundRect">
            <a:avLst>
              <a:gd name="adj" fmla="val 8824"/>
            </a:avLst>
          </a:prstGeom>
          <a:solidFill>
            <a:srgbClr val="F3F7F1"/>
          </a:solidFill>
          <a:ln/>
        </p:spPr>
      </p:sp>
      <p:sp>
        <p:nvSpPr>
          <p:cNvPr id="36" name="Text 33"/>
          <p:cNvSpPr/>
          <p:nvPr/>
        </p:nvSpPr>
        <p:spPr>
          <a:xfrm>
            <a:off x="868680" y="55961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</a:t>
            </a:r>
            <a:endParaRPr lang="en-US" sz="3000" dirty="0"/>
          </a:p>
        </p:txBody>
      </p:sp>
      <p:sp>
        <p:nvSpPr>
          <p:cNvPr id="37" name="Text 34"/>
          <p:cNvSpPr/>
          <p:nvPr/>
        </p:nvSpPr>
        <p:spPr>
          <a:xfrm>
            <a:off x="868680" y="61447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笔提交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3611880" y="55961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2558</a:t>
            </a:r>
            <a:endParaRPr lang="en-US" sz="3000" dirty="0"/>
          </a:p>
        </p:txBody>
      </p:sp>
      <p:sp>
        <p:nvSpPr>
          <p:cNvPr id="39" name="Text 36"/>
          <p:cNvSpPr/>
          <p:nvPr/>
        </p:nvSpPr>
        <p:spPr>
          <a:xfrm>
            <a:off x="3611880" y="61447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文件变更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355080" y="55961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1.83M</a:t>
            </a:r>
            <a:endParaRPr lang="en-US" sz="3000" dirty="0"/>
          </a:p>
        </p:txBody>
      </p:sp>
      <p:sp>
        <p:nvSpPr>
          <p:cNvPr id="41" name="Text 38"/>
          <p:cNvSpPr/>
          <p:nvPr/>
        </p:nvSpPr>
        <p:spPr>
          <a:xfrm>
            <a:off x="6355080" y="61447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行入库（+）/ 6.6万（−）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9098280" y="55961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W38</a:t>
            </a:r>
            <a:endParaRPr lang="en-US" sz="3000" dirty="0"/>
          </a:p>
        </p:txBody>
      </p:sp>
      <p:sp>
        <p:nvSpPr>
          <p:cNvPr id="43" name="Text 40"/>
          <p:cNvSpPr/>
          <p:nvPr/>
        </p:nvSpPr>
        <p:spPr>
          <a:xfrm>
            <a:off x="9098280" y="61447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峰值周 71 笔（9-17~23）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PERCEPTION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感知系统：停走式节拍 · 事实产出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31575" y="347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60350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68249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立体深度对比（深度伪彩 + 点云）</a:t>
            </a:r>
            <a:endParaRPr lang="en-US" sz="1150" dirty="0"/>
          </a:p>
        </p:txBody>
      </p:sp>
      <p:pic>
        <p:nvPicPr>
          <p:cNvPr id="7" name="Image 0" descr="/home/mu/Desktop/aubo_e5_jazzy_ws/reports/2026-10-15-project-design/assets/stereo_c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071" y="2048256"/>
            <a:ext cx="4946754" cy="2514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4846320"/>
            <a:ext cx="29260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4937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相机流 RViz 窗口（Percipio 前端）</a:t>
            </a:r>
            <a:endParaRPr lang="en-US" sz="1000" dirty="0"/>
          </a:p>
        </p:txBody>
      </p:sp>
      <p:pic>
        <p:nvPicPr>
          <p:cNvPr id="10" name="Image 1" descr="/home/mu/Desktop/aubo_e5_jazzy_ws/reports/2026-10-15-project-design/assets/percipio_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133" y="5248656"/>
            <a:ext cx="1555958" cy="10972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639312" y="4846320"/>
            <a:ext cx="2962656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803904" y="4937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目标检测验证</a:t>
            </a:r>
            <a:endParaRPr lang="en-US" sz="1000" dirty="0"/>
          </a:p>
        </p:txBody>
      </p:sp>
      <p:pic>
        <p:nvPicPr>
          <p:cNvPr id="13" name="Image 2" descr="/home/mu/Desktop/aubo_e5_jazzy_ws/reports/2026-10-15-project-design/assets/yolo_va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014" y="5248656"/>
            <a:ext cx="1915252" cy="10972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858000" y="1554480"/>
            <a:ext cx="4754880" cy="1499616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077456" y="1773936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0102" y="1916582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0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停走式节拍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7114032" y="2066544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位拍照 → YOLO 检测（置信度 0.80+）→ SAM 实例掩膜 → 立体深度 → 多视点重建积分（精确 stamp TF）</a:t>
            </a:r>
            <a:endParaRPr lang="en-US" sz="1020" dirty="0"/>
          </a:p>
        </p:txBody>
      </p:sp>
      <p:sp>
        <p:nvSpPr>
          <p:cNvPr id="19" name="Shape 13"/>
          <p:cNvSpPr/>
          <p:nvPr/>
        </p:nvSpPr>
        <p:spPr>
          <a:xfrm>
            <a:off x="6858000" y="3218688"/>
            <a:ext cx="4754880" cy="1499616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077456" y="3438144"/>
            <a:ext cx="548640" cy="548640"/>
          </a:xfrm>
          <a:prstGeom prst="ellipse">
            <a:avLst/>
          </a:prstGeom>
          <a:solidFill>
            <a:srgbClr val="C96F4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0102" y="3580790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72400" y="33284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两月关键优化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7114032" y="373075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袋长 2D+3D 融合修正 −29% 系统性偏短 · 几何核两段式 preemptive RANSAC（512 粗排 / 16 决赛）· 掩膜门最近邻容差配对（stereo 前端解锁）</a:t>
            </a:r>
            <a:endParaRPr lang="en-US" sz="1020" dirty="0"/>
          </a:p>
        </p:txBody>
      </p:sp>
      <p:sp>
        <p:nvSpPr>
          <p:cNvPr id="24" name="Shape 17"/>
          <p:cNvSpPr/>
          <p:nvPr/>
        </p:nvSpPr>
        <p:spPr>
          <a:xfrm>
            <a:off x="6858000" y="4882896"/>
            <a:ext cx="4754880" cy="1499616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077456" y="5102352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0102" y="5244998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772400" y="4992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契约边界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7114032" y="539496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感知只发事实：不发运动命令、不选下一颗、不写账本（可写 perception_data 事件）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MOTION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运动执行：接近轨迹四代演进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31575" y="347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806440" y="1554480"/>
            <a:ext cx="580644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0" y="168249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RViz 完整链（检测框 target_0 + 点云 + 规划轨迹）</a:t>
            </a:r>
            <a:endParaRPr lang="en-US" sz="1150" dirty="0"/>
          </a:p>
        </p:txBody>
      </p:sp>
      <p:pic>
        <p:nvPicPr>
          <p:cNvPr id="7" name="Image 0" descr="/home/mu/Desktop/aubo_e5_jazzy_ws/reports/2026-10-15-project-design/assets/rviz_full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580" y="2048256"/>
            <a:ext cx="483616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554480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709928"/>
            <a:ext cx="713232" cy="512064"/>
          </a:xfrm>
          <a:prstGeom prst="roundRect">
            <a:avLst>
              <a:gd name="adj" fmla="val 14286"/>
            </a:avLst>
          </a:prstGeom>
          <a:solidFill>
            <a:srgbClr val="9AA79B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709928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v1/v2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591056" y="1627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绕角 + 斜直线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591056" y="198424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斜直线证伪：通过率 1/30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" y="2487168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1520" y="2642616"/>
            <a:ext cx="713232" cy="512064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642616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91056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PTP + 沿轴垂直 + 滚转梯子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591056" y="291693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{0,±30,±60} 随机重启，typical 63% 下界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" y="3419856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1520" y="3575304"/>
            <a:ext cx="713232" cy="512064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575304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591056" y="3493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世界垂直 LIN 入冠 0.05m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591056" y="384962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解析成功率 57/80 = 71.3%，入冠零代价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66928" y="4352544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31520" y="4507992"/>
            <a:ext cx="713232" cy="512064"/>
          </a:xfrm>
          <a:prstGeom prst="roundRect">
            <a:avLst>
              <a:gd name="adj" fmla="val 14286"/>
            </a:avLst>
          </a:prstGeom>
          <a:solidFill>
            <a:srgbClr val="C96F4A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507992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591056" y="44256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Pilz sequence blend 0.02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591056" y="478231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冠内双 LIN 速度连续 · 网格 18/20 · 走廊 13/13 零降级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66928" y="5413248"/>
            <a:ext cx="11045952" cy="1005840"/>
          </a:xfrm>
          <a:prstGeom prst="roundRect">
            <a:avLst>
              <a:gd name="adj" fmla="val 8182"/>
            </a:avLst>
          </a:prstGeom>
          <a:solidFill>
            <a:srgbClr val="F3F7F1"/>
          </a:solidFill>
          <a:ln/>
        </p:spPr>
      </p:sp>
      <p:sp>
        <p:nvSpPr>
          <p:cNvPr id="29" name="Text 26"/>
          <p:cNvSpPr/>
          <p:nvPr/>
        </p:nvSpPr>
        <p:spPr>
          <a:xfrm>
            <a:off x="86868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执行链：MoveIt/MTC 规划 → 透传控制器下发；boundedExecute 超时防线（TEM 关闭，决策 0029）</a:t>
            </a:r>
            <a:endParaRPr lang="en-US" sz="115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命令门：enables × clearance × robotReady × ¬cancel；许可令牌 CONTACT/TOOL 分档余量（径向/轴向）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END EFFECTOR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末端工具：三把 CAD 剪切手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31575" y="347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792224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785" y="1939625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17739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shear_v1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481328" y="21214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基准双刃剪切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4672" y="26060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开口 +Y · 5.5 万/4.5k tri 双档网格</a:t>
            </a:r>
            <a:endParaRPr lang="en-US" sz="1000" dirty="0"/>
          </a:p>
          <a:p>
            <a:pPr algn="l"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档案 design_reference 传承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43400" y="1572768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2856" y="1792224"/>
            <a:ext cx="566928" cy="566928"/>
          </a:xfrm>
          <a:prstGeom prst="ellipse">
            <a:avLst/>
          </a:prstGeom>
          <a:solidFill>
            <a:srgbClr val="C96F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257" y="1939625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17739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bite_shear_v1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257800" y="21214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咬合剪切（10-13 起默认）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81144" y="26060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(0, 30.24, 165.5) mm</a:t>
            </a:r>
            <a:endParaRPr lang="en-US" sz="1000" dirty="0"/>
          </a:p>
          <a:p>
            <a:pPr algn="l"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照片位 FULL 不可达定案后转 PREGRASP_ONLY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119872" y="1572768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39328" y="1792224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29" y="1939625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34272" y="17739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adaptive_shear_v1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9034272" y="21214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自适应剪切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357616" y="26060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(0, 47, 168.66) mm · insert.max_travel 0.09</a:t>
            </a:r>
            <a:endParaRPr lang="en-US" sz="1000" dirty="0"/>
          </a:p>
          <a:p>
            <a:pPr algn="l"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imu_follow 插入模式跟随接触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66928" y="42062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04672" y="4425696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564" y="4563588"/>
            <a:ext cx="254569" cy="25456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63040" y="44622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→ URDF 管线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41248" y="49377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FreeCAD 总装提取 + Blender 4.5 无头减面/叠对渲染</a:t>
            </a:r>
            <a:endParaRPr lang="en-US" sz="110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法兰系 = CAD 全局系；三方数值叠对 + 渲染叠图双验收</a:t>
            </a:r>
            <a:endParaRPr lang="en-US" sz="110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测量算术自洽核定（毫米级标定禁视觉转述）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172200" y="42062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400800" y="4425696"/>
            <a:ext cx="530352" cy="530352"/>
          </a:xfrm>
          <a:prstGeom prst="ellipse">
            <a:avLst/>
          </a:prstGeom>
          <a:solidFill>
            <a:srgbClr val="C96F4A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692" y="4563588"/>
            <a:ext cx="254569" cy="25456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59168" y="44622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剪切证据链与许可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6446520" y="493776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ToolState 三轴 IDL + DI 事件门；VerifyCut 有界等沿保守收口（CUT_UNCONFIRMED 不猜成功）</a:t>
            </a:r>
            <a:endParaRPr lang="en-US" sz="110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GraspDecision 许可令牌族只授权套入/剪切；PREGRASP_ONLY 不要求许可</a:t>
            </a:r>
            <a:endParaRPr lang="en-US" sz="110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轴向预算 RSS 修正（v1 线性相加恒负已修）+ 分档余量门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测试体系：金字塔与验收门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31575" y="347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20240" y="512064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5120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Lint（ament 全家桶）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54480" y="4462272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446227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纯核单测 pytest / gtest（零 ROS）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88720" y="3803904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3F7A40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8039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launch_testing 集成（隔离域）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145536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1E3B2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4553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独立系统测包（peach_system_tests）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142B1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8716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真机命名轮次（field_* · 授权+bag）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5943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不证明安全 · 来源分层记录不合并成功率 · 测完即停 pgrep 复核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37960" y="1627632"/>
            <a:ext cx="246888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84264" y="17556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517 测 0 败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84264" y="223113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W1–W16 质量轮终验（lint+纯核）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9144000" y="1627632"/>
            <a:ext cx="246888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90304" y="17556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E2E 64/64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290304" y="223113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观测性四层轮全绿（09-29）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537960" y="3108960"/>
            <a:ext cx="246888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84264" y="323697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launch_testing 5/5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684264" y="371246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整栈冒烟收编（隔离域）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9144000" y="3108960"/>
            <a:ext cx="246888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290304" y="323697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852 帧 GATE PASS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90304" y="371246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感知验证矩阵首轮基线冻结（09-28）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537960" y="4590288"/>
            <a:ext cx="246888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84264" y="471830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回放塔 51 用例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684264" y="519379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49 + random 6·oracle 三路点重封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9144000" y="4590288"/>
            <a:ext cx="246888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290304" y="471830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矩阵 100%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290304" y="519379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M1–M5 失败全归因三族边界（20 例网格）</a:t>
            </a:r>
            <a:endParaRPr lang="en-US" sz="9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FIELD TESTS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真机验证记录（授权轮次）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31575" y="347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00784"/>
            <a:ext cx="2377440" cy="768096"/>
          </a:xfrm>
          <a:prstGeom prst="roundRect">
            <a:avLst>
              <a:gd name="adj" fmla="val 9524"/>
            </a:avLst>
          </a:prstGeom>
          <a:solidFill>
            <a:srgbClr val="C96F4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700784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真相机首抓 · 09-24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91840" y="16642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真实锁定 target_1（YOLO 0.84）→ PREGRASP 停驻 → ACK → COMPLETED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91840" y="20848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周期 9.4s · 全程无 SetIO · 监测基建（45s 截图 / RViz 视频 / 内存守门）全程运行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743200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871216"/>
            <a:ext cx="2377440" cy="768096"/>
          </a:xfrm>
          <a:prstGeom prst="roundRect">
            <a:avLst>
              <a:gd name="adj" fmla="val 9524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871216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FULL 链 · 09-24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接触前 ACK 停驻；袋口 |p|=1.079m 位于套入可达边界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91840" y="32552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三轮 9.3s 到位等命令；驱动被外部取消未收口（记录在案）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913632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041648"/>
            <a:ext cx="2377440" cy="768096"/>
          </a:xfrm>
          <a:prstGeom prst="roundRect">
            <a:avLst>
              <a:gd name="adj" fmla="val 9524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4041648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冻结相机 v1 稳定轮 · 10-12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冻结 bag 上完整周期 ×4 复现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91840" y="44256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28.4s/28.4s/28.4s/28.6s（approach 15.3 + retreat 12.5，σ≈0.1s）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084064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5212080"/>
            <a:ext cx="2377440" cy="768096"/>
          </a:xfrm>
          <a:prstGeom prst="roundRect">
            <a:avLst>
              <a:gd name="adj" fmla="val 9524"/>
            </a:avLst>
          </a:prstGeom>
          <a:solidFill>
            <a:srgbClr val="C96F4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5212080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真机专项轮 · 10-14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91840" y="517550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剪切链 / 外袋验证 / 稳定性闭环 ×5 / RViz 复跑 ×3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91840" y="55961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 bag + ledger + geometry 全留痕；50G 预算执行 runs 87G→33MB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6309360"/>
            <a:ext cx="11064240" cy="384048"/>
          </a:xfrm>
          <a:prstGeom prst="roundRect">
            <a:avLst>
              <a:gd name="adj" fmla="val 21429"/>
            </a:avLst>
          </a:prstGeom>
          <a:solidFill>
            <a:srgbClr val="F3F7F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630936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真机纪律：示教器上电 · 急停手能摸到 · 工作空间无人 · 先 mock 后 real · 采摘对错的最终权威在田间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SIMULATION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仿真体系：P1 → P4b 四步落地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31575" y="347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484632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68249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重建果园渲染（sim_worlds）</a:t>
            </a:r>
            <a:endParaRPr lang="en-US" sz="1150" dirty="0"/>
          </a:p>
        </p:txBody>
      </p:sp>
      <p:pic>
        <p:nvPicPr>
          <p:cNvPr id="7" name="Image 0" descr="/home/mu/Desktop/aubo_e5_jazzy_ws/reports/2026-10-15-project-design/assets/sim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808" y="2029968"/>
            <a:ext cx="4226560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4617720"/>
            <a:ext cx="48463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672" y="471830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光照矩阵（晨/午/阴/暮/逆光）</a:t>
            </a:r>
            <a:endParaRPr lang="en-US" sz="1000" dirty="0"/>
          </a:p>
        </p:txBody>
      </p:sp>
      <p:pic>
        <p:nvPicPr>
          <p:cNvPr id="10" name="Image 1" descr="/home/mu/Desktop/aubo_e5_jazzy_ws/reports/2026-10-15-project-design/assets/sim_lighting_w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534" y="5029200"/>
            <a:ext cx="3001108" cy="1280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69280" y="1554480"/>
            <a:ext cx="594360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852160" y="1792224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9"/>
          <p:cNvSpPr/>
          <p:nvPr/>
        </p:nvSpPr>
        <p:spPr>
          <a:xfrm>
            <a:off x="5852160" y="1792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58368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仿真子工作空间重组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583680" y="2011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顶层 peach_sim 拆入 src/sim/ 五包：worlds / description / bringup / perception / system_tests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5669280" y="2761488"/>
            <a:ext cx="594360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852160" y="2999232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4"/>
          <p:cNvSpPr/>
          <p:nvPr/>
        </p:nvSpPr>
        <p:spPr>
          <a:xfrm>
            <a:off x="58521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583680" y="28529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统一机体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583680" y="321868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gz_ros2_control 臂可控 + MoveIt + 可驾驶底盘一体（sim.launch.py）</a:t>
            </a:r>
            <a:endParaRPr lang="en-US" sz="980" dirty="0"/>
          </a:p>
        </p:txBody>
      </p:sp>
      <p:sp>
        <p:nvSpPr>
          <p:cNvPr id="21" name="Shape 17"/>
          <p:cNvSpPr/>
          <p:nvPr/>
        </p:nvSpPr>
        <p:spPr>
          <a:xfrm>
            <a:off x="5669280" y="3968496"/>
            <a:ext cx="594360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852160" y="4206240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19"/>
          <p:cNvSpPr/>
          <p:nvPr/>
        </p:nvSpPr>
        <p:spPr>
          <a:xfrm>
            <a:off x="5852160" y="4206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6583680" y="40599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感知闭环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6583680" y="44256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 感知栈快照复制跑通仿真相机流（perception.launch.py）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5669280" y="5175504"/>
            <a:ext cx="594360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852160" y="5413248"/>
            <a:ext cx="585216" cy="585216"/>
          </a:xfrm>
          <a:prstGeom prst="ellipse">
            <a:avLst/>
          </a:prstGeom>
          <a:solidFill>
            <a:srgbClr val="C96F4A"/>
          </a:solidFill>
          <a:ln/>
        </p:spPr>
      </p:sp>
      <p:sp>
        <p:nvSpPr>
          <p:cNvPr id="28" name="Text 24"/>
          <p:cNvSpPr/>
          <p:nvPr/>
        </p:nvSpPr>
        <p:spPr>
          <a:xfrm>
            <a:off x="5852160" y="54132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P4b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6583680" y="52669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自主导航采摘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6583680" y="56327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harvest.launch.py 一键（sim + perception + Nav2，field/程序化两预设）+ orchard_harvest CLI + generate_field 真值</a:t>
            </a:r>
            <a:endParaRPr lang="en-US" sz="980" dirty="0"/>
          </a:p>
        </p:txBody>
      </p:sp>
      <p:sp>
        <p:nvSpPr>
          <p:cNvPr id="31" name="Shape 27"/>
          <p:cNvSpPr/>
          <p:nvPr/>
        </p:nvSpPr>
        <p:spPr>
          <a:xfrm>
            <a:off x="5669280" y="6382512"/>
            <a:ext cx="5943600" cy="365760"/>
          </a:xfrm>
          <a:prstGeom prst="roundRect">
            <a:avLst>
              <a:gd name="adj" fmla="val 22500"/>
            </a:avLst>
          </a:prstGeom>
          <a:solidFill>
            <a:srgbClr val="F3F7F1"/>
          </a:solidFill>
          <a:ln/>
        </p:spPr>
      </p:sp>
      <p:sp>
        <p:nvSpPr>
          <p:cNvPr id="32" name="Text 28"/>
          <p:cNvSpPr/>
          <p:nvPr/>
        </p:nvSpPr>
        <p:spPr>
          <a:xfrm>
            <a:off x="5852160" y="63825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同一管线原则：只换硬件插件与 use_sim_time，不写第二套关节话题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观测性与 Web 工作台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31575" y="347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309360" y="1554480"/>
            <a:ext cx="530352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28816" y="168249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8090 调试台（纯调试客户端 · 绕不过命令门）</a:t>
            </a:r>
            <a:endParaRPr lang="en-US" sz="1150" dirty="0"/>
          </a:p>
        </p:txBody>
      </p:sp>
      <p:pic>
        <p:nvPicPr>
          <p:cNvPr id="7" name="Image 0" descr="/home/mu/Desktop/aubo_e5_jazzy_ws/reports/2026-10-15-project-design/assets/web_cons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56" y="2066544"/>
            <a:ext cx="4681728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5285232"/>
            <a:ext cx="530352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28816" y="54132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peach_web 3D 面板 · 8090 日志面板（10-12/13 入库）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28816" y="57790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展示与表达意图；业务服务与执行侧管理权威，页面关闭 ≠ 任务结束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1554480"/>
            <a:ext cx="55321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6384" y="1792224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30" y="1934870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81328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/diagnostics 全节点聚合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481328" y="201168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diagnostic_updater 全节点覆盖（peach_arm 9 任务、感知/重建/调度等）；observability 聚合进 8090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566928" y="2798064"/>
            <a:ext cx="55321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6384" y="3035808"/>
            <a:ext cx="548640" cy="548640"/>
          </a:xfrm>
          <a:prstGeom prst="ellipse">
            <a:avLst/>
          </a:prstGeom>
          <a:solidFill>
            <a:srgbClr val="C96F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3178454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81328" y="28895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会话 bag MCAP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481328" y="325526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 observability 启停；runs/session_* 留 selfcheck、startup 工件；runs 87G→33MB 预算化治理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566928" y="4041648"/>
            <a:ext cx="55321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86384" y="4279392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" y="4422038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81328" y="41330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账本与证据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481328" y="449884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ledger.json（终局/outcome/阶段时长）+ geometry.jsonl + perception_data 事件；request_id 不复用</a:t>
            </a:r>
            <a:endParaRPr lang="en-US" sz="980" dirty="0"/>
          </a:p>
        </p:txBody>
      </p:sp>
      <p:sp>
        <p:nvSpPr>
          <p:cNvPr id="26" name="Shape 20"/>
          <p:cNvSpPr/>
          <p:nvPr/>
        </p:nvSpPr>
        <p:spPr>
          <a:xfrm>
            <a:off x="566928" y="5285232"/>
            <a:ext cx="55321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86384" y="5522976"/>
            <a:ext cx="548640" cy="548640"/>
          </a:xfrm>
          <a:prstGeom prst="ellipse">
            <a:avLst/>
          </a:prstGeom>
          <a:solidFill>
            <a:srgbClr val="C96F4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" y="5665622"/>
            <a:ext cx="263347" cy="26334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81328" y="53766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自检与闩锁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481328" y="574243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selfcheck 闩锁 + startup.json 工件 + blockers；失败三通道（日志/诊断/账本 failure_code）</a:t>
            </a:r>
            <a:endParaRPr lang="en-US" sz="9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BEFORE / AFTER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优化前后对比：两月关键指标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31575" y="347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7589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0175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B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优化前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B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优化后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接近轨迹通过率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667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斜直线证伪：1/30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 世界垂直入冠 71.3%（网格 18/20）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轨迹连续性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667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PTP 分段停点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Pilz sequence blend 冠内速度连续（v4d）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袋长估计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667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系统性偏短 −29%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2D+3D 融合 + 检测框硬限幅修正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几何核耗时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667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全量 RANSAC 打分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两段式 preemptive：512 粗排 / 16 决赛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轴向安全预算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667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线性相加恒负 → cut_ok 永 false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RSS 修正 + CONTACT/TOOL 分档余量门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测试规模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667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少量纯核 pytest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 测 0 败 + E2E 64/64 + launch_testing 5/5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感知基线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667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无冻结基线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852 帧矩阵首轮 GATE PASS 冻结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诊断覆盖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667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 3 包接入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全节点 /diagnostics 聚合进 8090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572768"/>
            <a:ext cx="320040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13648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对比视频导看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31936" y="2157984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完整链 RViz（v1 栈 28.4s 周期实录）</a:t>
            </a:r>
            <a:endParaRPr lang="en-US" sz="105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立体深度四窗格前后对比</a:t>
            </a:r>
            <a:endParaRPr lang="en-US" sz="1050" dirty="0"/>
          </a:p>
          <a:p>
            <a:pPr algn="l"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相机流 · 掩膜序列 · 数据字幕卡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13648" y="3913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交付物：optimization_before_after.mp4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412480" y="46177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1E3B24"/>
          </a:solidFill>
          <a:ln/>
        </p:spPr>
      </p:sp>
      <p:sp>
        <p:nvSpPr>
          <p:cNvPr id="11" name="Text 8"/>
          <p:cNvSpPr/>
          <p:nvPr/>
        </p:nvSpPr>
        <p:spPr>
          <a:xfrm>
            <a:off x="8631936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单果周期（冻结 v1）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31936" y="5120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28.4s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8631936" y="59253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 复现 σ≈0.1s · approach 15.3s + retreat 12.5s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建设路线：G0 → G4 分期验收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31575" y="347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713232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7830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34086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完整框架与模拟闭环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3017520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模块 + 任务层级 + 账本页面全走通（模拟不冒充物理验收）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94944" y="4206240"/>
            <a:ext cx="1865376" cy="548640"/>
          </a:xfrm>
          <a:prstGeom prst="roundRect">
            <a:avLst>
              <a:gd name="adj" fmla="val 11667"/>
            </a:avLst>
          </a:prstGeom>
          <a:solidFill>
            <a:srgbClr val="F3F7F1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4206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仿真侧已贯通（P4b 一键）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51760" y="30175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825496" y="160020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71800" y="1783080"/>
            <a:ext cx="713232" cy="457200"/>
          </a:xfrm>
          <a:prstGeom prst="roundRect">
            <a:avLst>
              <a:gd name="adj" fmla="val 16000"/>
            </a:avLst>
          </a:prstGeom>
          <a:solidFill>
            <a:srgbClr val="9AA79B"/>
          </a:solidFill>
          <a:ln/>
        </p:spPr>
      </p:sp>
      <p:sp>
        <p:nvSpPr>
          <p:cNvPr id="15" name="Text 13"/>
          <p:cNvSpPr/>
          <p:nvPr/>
        </p:nvSpPr>
        <p:spPr>
          <a:xfrm>
            <a:off x="2971800" y="17830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71800" y="234086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移动平台与工作点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71800" y="3017520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成熟定位/导航接入 · 稳定交接 · 移动-采摘互斥有效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2953512" y="4206240"/>
            <a:ext cx="1865376" cy="548640"/>
          </a:xfrm>
          <a:prstGeom prst="roundRect">
            <a:avLst>
              <a:gd name="adj" fmla="val 11667"/>
            </a:avLst>
          </a:prstGeom>
          <a:solidFill>
            <a:srgbClr val="EDF1EA"/>
          </a:solidFill>
          <a:ln/>
        </p:spPr>
      </p:sp>
      <p:sp>
        <p:nvSpPr>
          <p:cNvPr id="19" name="Text 17"/>
          <p:cNvSpPr/>
          <p:nvPr/>
        </p:nvSpPr>
        <p:spPr>
          <a:xfrm>
            <a:off x="3008376" y="4206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待建（产品底盘选型）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10328" y="30175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84064" y="160020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30368" y="1783080"/>
            <a:ext cx="713232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5230368" y="17830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30368" y="234086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固定工位完整采摘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0368" y="3017520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单果采摘/收集独立证据 · 缺反馈不结算成功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212080" y="4206240"/>
            <a:ext cx="1865376" cy="548640"/>
          </a:xfrm>
          <a:prstGeom prst="roundRect">
            <a:avLst>
              <a:gd name="adj" fmla="val 11667"/>
            </a:avLst>
          </a:prstGeom>
          <a:solidFill>
            <a:srgbClr val="F3F7F1"/>
          </a:solidFill>
          <a:ln/>
        </p:spPr>
      </p:sp>
      <p:sp>
        <p:nvSpPr>
          <p:cNvPr id="27" name="Text 25"/>
          <p:cNvSpPr/>
          <p:nvPr/>
        </p:nvSpPr>
        <p:spPr>
          <a:xfrm>
            <a:off x="5266944" y="4206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固定座 v1 真机基础具备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68896" y="30175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342632" y="160020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88936" y="1783080"/>
            <a:ext cx="713232" cy="457200"/>
          </a:xfrm>
          <a:prstGeom prst="roundRect">
            <a:avLst>
              <a:gd name="adj" fmla="val 16000"/>
            </a:avLst>
          </a:prstGeom>
          <a:solidFill>
            <a:srgbClr val="9AA79B"/>
          </a:solidFill>
          <a:ln/>
        </p:spPr>
      </p:sp>
      <p:sp>
        <p:nvSpPr>
          <p:cNvPr id="31" name="Text 29"/>
          <p:cNvSpPr/>
          <p:nvPr/>
        </p:nvSpPr>
        <p:spPr>
          <a:xfrm>
            <a:off x="7488936" y="17830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88936" y="234086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导航-采摘-物流集成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88936" y="3017520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跨点不重复不丢终局 · 资源约束可中断重编排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7470648" y="4206240"/>
            <a:ext cx="1865376" cy="548640"/>
          </a:xfrm>
          <a:prstGeom prst="roundRect">
            <a:avLst>
              <a:gd name="adj" fmla="val 11667"/>
            </a:avLst>
          </a:prstGeom>
          <a:solidFill>
            <a:srgbClr val="EDF1EA"/>
          </a:solidFill>
          <a:ln/>
        </p:spPr>
      </p:sp>
      <p:sp>
        <p:nvSpPr>
          <p:cNvPr id="35" name="Text 33"/>
          <p:cNvSpPr/>
          <p:nvPr/>
        </p:nvSpPr>
        <p:spPr>
          <a:xfrm>
            <a:off x="7525512" y="4206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待建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427464" y="30175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601200" y="160020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9E4D4"/>
            </a:solidFill>
            <a:prstDash val="solid"/>
          </a:ln>
          <a:effectLst>
            <a:outerShdw sx="100000" sy="100000" kx="0" ky="0" algn="bl" rotWithShape="0" blurRad="88900" dist="25400" dir="5400000">
              <a:srgbClr val="1E3B24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747504" y="1783080"/>
            <a:ext cx="713232" cy="457200"/>
          </a:xfrm>
          <a:prstGeom prst="roundRect">
            <a:avLst>
              <a:gd name="adj" fmla="val 16000"/>
            </a:avLst>
          </a:prstGeom>
          <a:solidFill>
            <a:srgbClr val="C96F4A"/>
          </a:solidFill>
          <a:ln/>
        </p:spPr>
      </p:sp>
      <p:sp>
        <p:nvSpPr>
          <p:cNvPr id="39" name="Text 37"/>
          <p:cNvSpPr/>
          <p:nvPr/>
        </p:nvSpPr>
        <p:spPr>
          <a:xfrm>
            <a:off x="9747504" y="17830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747504" y="234086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果园验证与优化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747504" y="3017520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光照/遮挡/地形分层统计 · 数据驱动优化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9729216" y="4206240"/>
            <a:ext cx="1865376" cy="548640"/>
          </a:xfrm>
          <a:prstGeom prst="roundRect">
            <a:avLst>
              <a:gd name="adj" fmla="val 11667"/>
            </a:avLst>
          </a:prstGeom>
          <a:solidFill>
            <a:srgbClr val="F3F7F1"/>
          </a:solidFill>
          <a:ln/>
        </p:spPr>
      </p:sp>
      <p:sp>
        <p:nvSpPr>
          <p:cNvPr id="43" name="Text 41"/>
          <p:cNvSpPr/>
          <p:nvPr/>
        </p:nvSpPr>
        <p:spPr>
          <a:xfrm>
            <a:off x="9784080" y="4206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待建（指标分母先定义）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6928" y="5166360"/>
            <a:ext cx="11045952" cy="1234440"/>
          </a:xfrm>
          <a:prstGeom prst="roundRect">
            <a:avLst>
              <a:gd name="adj" fmla="val 6667"/>
            </a:avLst>
          </a:prstGeom>
          <a:solidFill>
            <a:srgbClr val="F3F7F1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5303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贯穿验收维度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41248" y="56875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完整闭环：正常 / 取消 / 资源不足 / 导航失败 / 剪切未知 / 传感失联 / 人工恢复全覆盖</a:t>
            </a:r>
            <a:endParaRPr lang="en-US" sz="1050" dirty="0"/>
          </a:p>
          <a:p>
            <a:pPr algn="l"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来源分层：模拟、回放、真实相机 mock 臂、真机分别记录，不合并成功率；运维：可部署可回读可取消可诊断可收尾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 · 2026-10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设计定型 · 工程闭环 · 田间待验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27502F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" y="2852928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393" y="2986065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设计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41832" y="34015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模块完整框架 + G0-G4 路线（peach_autonomous_harvest_design）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34840" y="26517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27502F"/>
          </a:solidFill>
          <a:ln/>
        </p:spPr>
      </p:sp>
      <p:sp>
        <p:nvSpPr>
          <p:cNvPr id="10" name="Shape 7"/>
          <p:cNvSpPr/>
          <p:nvPr/>
        </p:nvSpPr>
        <p:spPr>
          <a:xfrm>
            <a:off x="4654296" y="2852928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433" y="298606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工程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90872" y="34015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两月 205 提交：质量重构 → 双末端战役 → 真机首抓 → 仿真自主采摘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83880" y="26517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27502F"/>
          </a:solidFill>
          <a:ln/>
        </p:spPr>
      </p:sp>
      <p:sp>
        <p:nvSpPr>
          <p:cNvPr id="15" name="Shape 11"/>
          <p:cNvSpPr/>
          <p:nvPr/>
        </p:nvSpPr>
        <p:spPr>
          <a:xfrm>
            <a:off x="8403336" y="2852928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473" y="2986065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验证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39912" y="34015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真机首抓 9.4s · 冻结链 28.4s×4 · 852 帧感知基线 · 517 测 0 败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8580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交付物：项目设计 PPT · 优化前后对比视频（同目录）· 素材与账本索引（runs/ + git）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85800" y="5943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安全声明：本报告数据全部来自 git 提交记录与 runs/ 测试账本；未包含任何未授权真机运动。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桃采摘机器人项目设计</dc:title>
  <dc:subject>PptxGenJS Presentation</dc:subject>
  <dc:creator>peach 项目组</dc:creator>
  <cp:lastModifiedBy>peach 项目组</cp:lastModifiedBy>
  <cp:revision>1</cp:revision>
  <dcterms:created xsi:type="dcterms:W3CDTF">2026-10-15T03:18:17Z</dcterms:created>
  <dcterms:modified xsi:type="dcterms:W3CDTF">2026-10-15T03:18:17Z</dcterms:modified>
</cp:coreProperties>
</file>