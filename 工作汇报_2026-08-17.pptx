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3318" r:id="rId4"/>
    <p:sldId id="3374" r:id="rId6"/>
    <p:sldId id="3375" r:id="rId11"/>
    <p:sldId id="3376" r:id="rId12"/>
    <p:sldId id="3377" r:id="rId1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tags" Target="tags/tag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image9.wdp"/><Relationship Id="rId5" Type="http://schemas.openxmlformats.org/officeDocument/2006/relationships/image" Target="../media/image10.png"/><Relationship Id="rId6" Type="http://schemas.microsoft.com/office/2007/relationships/hdphoto" Target="../media/image1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534976" y="6506942"/>
            <a:ext cx="149629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厚德  博学  求实  创新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阿里巴巴普惠体 Heavy" panose="00020600040101010101" pitchFamily="18" charset="-122"/>
              <a:sym typeface="阿里巴巴普惠体 B" panose="00020600040101010101" pitchFamily="18" charset="-122"/>
            </a:endParaRP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2031269" y="6599275"/>
            <a:ext cx="95765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11226800" y="6596062"/>
            <a:ext cx="367200" cy="0"/>
          </a:xfrm>
          <a:prstGeom prst="line">
            <a:avLst/>
          </a:prstGeom>
          <a:ln w="381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34976" y="6506942"/>
            <a:ext cx="149629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厚德 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博</a:t>
            </a:r>
            <a:r>
              <a:rPr lang="zh-CN" alt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学  求实  创新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阿里巴巴普惠体 Heavy" panose="00020600040101010101" pitchFamily="18" charset="-122"/>
              <a:sym typeface="阿里巴巴普惠体 B" panose="00020600040101010101" pitchFamily="18" charset="-122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2031269" y="6599275"/>
            <a:ext cx="95765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226800" y="6596062"/>
            <a:ext cx="367200" cy="0"/>
          </a:xfrm>
          <a:prstGeom prst="line">
            <a:avLst/>
          </a:prstGeom>
          <a:ln w="381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534976" y="6506942"/>
            <a:ext cx="149629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0" i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厚德  勤学  求实  创新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阿里巴巴普惠体 Heavy" panose="00020600040101010101" pitchFamily="18" charset="-122"/>
              <a:sym typeface="阿里巴巴普惠体 B" panose="00020600040101010101" pitchFamily="18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97082" y="2636912"/>
            <a:ext cx="2376264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目录</a:t>
            </a:r>
            <a:endParaRPr kumimoji="0" lang="zh-CN" altLang="en-US" sz="8000" b="1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269090" y="3880254"/>
            <a:ext cx="22322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F9F9F9"/>
                    </a:gs>
                    <a:gs pos="75000">
                      <a:srgbClr val="F9F9F9"/>
                    </a:gs>
                  </a:gsLst>
                  <a:lin ang="10800000" scaled="0"/>
                </a:gradFill>
                <a:effectLst/>
                <a:uLnTx/>
                <a:uFillTx/>
                <a:latin typeface="阿里巴巴普惠体 Light"/>
                <a:ea typeface="阿里巴巴普惠体 Light"/>
                <a:cs typeface="+mn-cs"/>
              </a:rPr>
              <a:t>CONTENTS</a:t>
            </a:r>
            <a:endParaRPr kumimoji="0" lang="zh-CN" altLang="en-US" sz="20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F9F9F9"/>
                  </a:gs>
                  <a:gs pos="75000">
                    <a:srgbClr val="F9F9F9"/>
                  </a:gs>
                </a:gsLst>
                <a:lin ang="10800000" scaled="0"/>
              </a:gradFill>
              <a:effectLst/>
              <a:uLnTx/>
              <a:uFillTx/>
              <a:latin typeface="阿里巴巴普惠体 Light"/>
              <a:ea typeface="阿里巴巴普惠体 Light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1170094" y="2636911"/>
            <a:ext cx="185758" cy="174788"/>
            <a:chOff x="2027566" y="2264370"/>
            <a:chExt cx="351506" cy="330748"/>
          </a:xfrm>
        </p:grpSpPr>
        <p:cxnSp>
          <p:nvCxnSpPr>
            <p:cNvPr id="16" name="直接连接符 15"/>
            <p:cNvCxnSpPr/>
            <p:nvPr/>
          </p:nvCxnSpPr>
          <p:spPr>
            <a:xfrm flipH="1">
              <a:off x="2027566" y="2269132"/>
              <a:ext cx="351506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1862192" y="2429744"/>
              <a:ext cx="330748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 userDrawn="1"/>
        </p:nvGrpSpPr>
        <p:grpSpPr>
          <a:xfrm>
            <a:off x="3443162" y="4034142"/>
            <a:ext cx="185758" cy="174788"/>
            <a:chOff x="3400230" y="4352934"/>
            <a:chExt cx="351506" cy="330748"/>
          </a:xfrm>
        </p:grpSpPr>
        <p:cxnSp>
          <p:nvCxnSpPr>
            <p:cNvPr id="19" name="直接连接符 18"/>
            <p:cNvCxnSpPr/>
            <p:nvPr/>
          </p:nvCxnSpPr>
          <p:spPr>
            <a:xfrm rot="10800000" flipH="1">
              <a:off x="3400230" y="4681301"/>
              <a:ext cx="351506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H="1">
              <a:off x="3581588" y="4518308"/>
              <a:ext cx="330748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度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34976" y="6506942"/>
            <a:ext cx="149629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厚德  博学  求实  创新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阿里巴巴普惠体 Heavy" panose="00020600040101010101" pitchFamily="18" charset="-122"/>
              <a:sym typeface="阿里巴巴普惠体 B" panose="00020600040101010101" pitchFamily="18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031269" y="6599275"/>
            <a:ext cx="95765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226800" y="6596062"/>
            <a:ext cx="367200" cy="0"/>
          </a:xfrm>
          <a:prstGeom prst="line">
            <a:avLst/>
          </a:prstGeom>
          <a:ln w="381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blipFill dpi="0" rotWithShape="1">
            <a:blip r:embed="rId2" cstate="screen">
              <a:alphaModFix amt="3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pattFill prst="wdUpDiag">
            <a:fgClr>
              <a:srgbClr val="F7F7F7"/>
            </a:fgClr>
            <a:bgClr>
              <a:schemeClr val="bg1"/>
            </a:bgClr>
          </a:pattFill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</p:pic>
      <p:cxnSp>
        <p:nvCxnSpPr>
          <p:cNvPr id="15" name="直接连接符 14"/>
          <p:cNvCxnSpPr/>
          <p:nvPr userDrawn="1"/>
        </p:nvCxnSpPr>
        <p:spPr>
          <a:xfrm>
            <a:off x="571500" y="6599275"/>
            <a:ext cx="95765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590055" y="6597352"/>
            <a:ext cx="367200" cy="0"/>
          </a:xfrm>
          <a:prstGeom prst="line">
            <a:avLst/>
          </a:prstGeom>
          <a:ln w="381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 userDrawn="1"/>
        </p:nvSpPr>
        <p:spPr>
          <a:xfrm>
            <a:off x="643501" y="361434"/>
            <a:ext cx="332908" cy="3200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1021370" y="330963"/>
            <a:ext cx="4953000" cy="457200"/>
          </a:xfrm>
        </p:spPr>
        <p:txBody>
          <a:bodyPr>
            <a:normAutofit/>
          </a:bodyPr>
          <a:lstStyle>
            <a:lvl1pPr marL="0" indent="0">
              <a:buNone/>
              <a:defRPr sz="2400" spc="150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6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灯片编号占位符 8"/>
          <p:cNvSpPr txBox="1"/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blipFill dpi="0" rotWithShape="1">
            <a:blip r:embed="rId2" cstate="screen">
              <a:alphaModFix amt="3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pattFill prst="wdUpDiag">
            <a:fgClr>
              <a:srgbClr val="F7F7F7"/>
            </a:fgClr>
            <a:bgClr>
              <a:schemeClr val="bg1"/>
            </a:bgClr>
          </a:pattFill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</p:pic>
      <p:sp>
        <p:nvSpPr>
          <p:cNvPr id="14" name="文本框 13"/>
          <p:cNvSpPr txBox="1"/>
          <p:nvPr userDrawn="1"/>
        </p:nvSpPr>
        <p:spPr>
          <a:xfrm>
            <a:off x="10160731" y="6506942"/>
            <a:ext cx="149629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  <a:cs typeface="阿里巴巴普惠体 Heavy" panose="00020600040101010101" pitchFamily="18" charset="-122"/>
                <a:sym typeface="阿里巴巴普惠体 B" panose="00020600040101010101" pitchFamily="18" charset="-122"/>
              </a:rPr>
              <a:t>厚德  博学  求实  创新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阿里巴巴普惠体 Heavy" panose="00020600040101010101" pitchFamily="18" charset="-122"/>
              <a:sym typeface="阿里巴巴普惠体 B" panose="00020600040101010101" pitchFamily="18" charset="-122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571500" y="6599275"/>
            <a:ext cx="95765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590055" y="6597352"/>
            <a:ext cx="367200" cy="0"/>
          </a:xfrm>
          <a:prstGeom prst="line">
            <a:avLst/>
          </a:prstGeom>
          <a:ln w="381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043" y="106324"/>
            <a:ext cx="1839456" cy="958618"/>
          </a:xfrm>
          <a:prstGeom prst="rect">
            <a:avLst/>
          </a:prstGeom>
        </p:spPr>
      </p:pic>
      <p:sp>
        <p:nvSpPr>
          <p:cNvPr id="18" name="矩形 17"/>
          <p:cNvSpPr/>
          <p:nvPr userDrawn="1"/>
        </p:nvSpPr>
        <p:spPr>
          <a:xfrm>
            <a:off x="643501" y="361434"/>
            <a:ext cx="332908" cy="3200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196752"/>
            <a:ext cx="12192000" cy="4804901"/>
            <a:chOff x="0" y="2060848"/>
            <a:chExt cx="12192000" cy="3042475"/>
          </a:xfrm>
        </p:grpSpPr>
        <p:sp>
          <p:nvSpPr>
            <p:cNvPr id="6" name="玻璃底"/>
            <p:cNvSpPr/>
            <p:nvPr/>
          </p:nvSpPr>
          <p:spPr>
            <a:xfrm>
              <a:off x="0" y="2060849"/>
              <a:ext cx="12192000" cy="3042474"/>
            </a:xfrm>
            <a:prstGeom prst="rect">
              <a:avLst/>
            </a:prstGeom>
            <a:solidFill>
              <a:schemeClr val="accent1">
                <a:alpha val="7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玻璃线1"/>
            <p:cNvCxnSpPr/>
            <p:nvPr/>
          </p:nvCxnSpPr>
          <p:spPr>
            <a:xfrm>
              <a:off x="0" y="2060848"/>
              <a:ext cx="121920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玻璃线2"/>
            <p:cNvCxnSpPr/>
            <p:nvPr/>
          </p:nvCxnSpPr>
          <p:spPr>
            <a:xfrm>
              <a:off x="0" y="5103322"/>
              <a:ext cx="121920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占位符 1"/>
          <p:cNvSpPr>
            <a:spLocks noGrp="1"/>
          </p:cNvSpPr>
          <p:nvPr>
            <p:ph type="body" sz="quarter" idx="13" hasCustomPrompt="1"/>
          </p:nvPr>
        </p:nvSpPr>
        <p:spPr>
          <a:xfrm>
            <a:off x="1021370" y="330963"/>
            <a:ext cx="4953000" cy="457200"/>
          </a:xfrm>
        </p:spPr>
        <p:txBody>
          <a:bodyPr>
            <a:noAutofit/>
          </a:bodyPr>
          <a:lstStyle>
            <a:lvl1pPr marL="0" indent="0">
              <a:buNone/>
              <a:defRPr sz="2400" spc="400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文献参考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877CF-BBC5-4D8E-A410-3AEC0EAD8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C11E0-9BFD-4535-ADFC-9A064BEE5E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877CF-BBC5-4D8E-A410-3AEC0EAD8D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C11E0-9BFD-4535-ADFC-9A064BEE5E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湖工PPT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人的照片上写着字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66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者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穿着西装笔挺的男子与配字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更多资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平行四边形 10"/>
          <p:cNvSpPr/>
          <p:nvPr userDrawn="1"/>
        </p:nvSpPr>
        <p:spPr>
          <a:xfrm>
            <a:off x="-5490255" y="1581456"/>
            <a:ext cx="9402762" cy="468007"/>
          </a:xfrm>
          <a:prstGeom prst="parallelogram">
            <a:avLst>
              <a:gd name="adj" fmla="val 44612"/>
            </a:avLst>
          </a:prstGeom>
          <a:gradFill flip="none" rotWithShape="1">
            <a:gsLst>
              <a:gs pos="36000">
                <a:schemeClr val="accent2">
                  <a:alpha val="0"/>
                </a:schemeClr>
              </a:gs>
              <a:gs pos="0">
                <a:schemeClr val="accent2">
                  <a:alpha val="2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D178B6-6608-4489-9595-EDC3AADEC4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522109" y="6356350"/>
            <a:ext cx="2743200" cy="365125"/>
          </a:xfrm>
        </p:spPr>
        <p:txBody>
          <a:bodyPr/>
          <a:lstStyle/>
          <a:p>
            <a:fld id="{6FC39587-F4B5-4484-AF8E-8AF7C684CA98}" type="slidenum">
              <a:rPr lang="zh-CN" altLang="en-US" smtClean="0"/>
            </a:fld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 userDrawn="1"/>
        </p:nvSpPr>
        <p:spPr>
          <a:xfrm>
            <a:off x="804182" y="5034245"/>
            <a:ext cx="5257800" cy="131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添加小</a:t>
            </a:r>
            <a:r>
              <a:rPr lang="en-US" altLang="zh-CN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</a:t>
            </a:r>
            <a:endParaRPr lang="en-US" altLang="zh-CN" sz="3200" spc="3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学习更多干货知识</a:t>
            </a:r>
            <a:endParaRPr lang="zh-CN" altLang="en-US" sz="3200" spc="3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24" name="图片 23" descr="图片包含 游戏机, 钟表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5000" y1="31111" x2="34352" y2="25602"/>
                        <a14:foregroundMark x1="34352" y1="25602" x2="48796" y2="25278"/>
                        <a14:foregroundMark x1="48796" y1="25278" x2="63889" y2="26111"/>
                        <a14:foregroundMark x1="63889" y1="26111" x2="75093" y2="30509"/>
                        <a14:foregroundMark x1="75093" y1="30509" x2="80556" y2="61852"/>
                        <a14:foregroundMark x1="80556" y1="61852" x2="79537" y2="68935"/>
                        <a14:foregroundMark x1="79537" y1="68935" x2="65556" y2="72778"/>
                        <a14:foregroundMark x1="65556" y1="72778" x2="34259" y2="73704"/>
                        <a14:foregroundMark x1="34259" y1="73704" x2="20370" y2="70093"/>
                        <a14:foregroundMark x1="20370" y1="70093" x2="21111" y2="40000"/>
                        <a14:foregroundMark x1="21111" y1="40000" x2="24444" y2="33148"/>
                        <a14:foregroundMark x1="24444" y1="33148" x2="38426" y2="31019"/>
                        <a14:foregroundMark x1="38426" y1="31019" x2="52778" y2="34259"/>
                        <a14:foregroundMark x1="52778" y1="34259" x2="40556" y2="40231"/>
                        <a14:foregroundMark x1="40556" y1="40231" x2="41111" y2="57870"/>
                        <a14:foregroundMark x1="41111" y1="57870" x2="35556" y2="63333"/>
                        <a14:foregroundMark x1="75556" y1="27222" x2="77222" y2="30556"/>
                        <a14:foregroundMark x1="83056" y1="27315" x2="84352" y2="61065"/>
                        <a14:foregroundMark x1="84352" y1="26481" x2="84352" y2="26481"/>
                        <a14:foregroundMark x1="83519" y1="24167" x2="83519" y2="24167"/>
                        <a14:foregroundMark x1="47685" y1="21065" x2="47685" y2="21065"/>
                        <a14:foregroundMark x1="45185" y1="21065" x2="45185" y2="21065"/>
                        <a14:foregroundMark x1="48889" y1="20417" x2="44352" y2="23148"/>
                        <a14:foregroundMark x1="50185" y1="20231" x2="54722" y2="24583"/>
                        <a14:foregroundMark x1="34722" y1="25648" x2="19167" y2="25648"/>
                        <a14:foregroundMark x1="19167" y1="25648" x2="15185" y2="40231"/>
                        <a14:foregroundMark x1="16389" y1="43565" x2="15185" y2="55648"/>
                        <a14:foregroundMark x1="15556" y1="59398" x2="16852" y2="67083"/>
                        <a14:foregroundMark x1="16852" y1="67083" x2="22685" y2="73333"/>
                        <a14:foregroundMark x1="15185" y1="73565" x2="18519" y2="73750"/>
                        <a14:foregroundMark x1="13519" y1="74583" x2="13519" y2="74583"/>
                        <a14:foregroundMark x1="12870" y1="75463" x2="12870" y2="75463"/>
                        <a14:foregroundMark x1="14907" y1="24769" x2="14907" y2="24769"/>
                        <a14:foregroundMark x1="14259" y1="24213" x2="14259" y2="24213"/>
                        <a14:foregroundMark x1="13333" y1="24120" x2="13333" y2="24120"/>
                        <a14:foregroundMark x1="46019" y1="19120" x2="46019" y2="19120"/>
                        <a14:foregroundMark x1="50185" y1="18426" x2="50185" y2="18426"/>
                        <a14:foregroundMark x1="52037" y1="18657" x2="52037" y2="18657"/>
                        <a14:backgroundMark x1="60463" y1="22222" x2="60463" y2="2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65" y="885926"/>
            <a:ext cx="2620834" cy="5241667"/>
          </a:xfrm>
          <a:prstGeom prst="rect">
            <a:avLst/>
          </a:prstGeom>
        </p:spPr>
      </p:pic>
      <p:sp>
        <p:nvSpPr>
          <p:cNvPr id="25" name="文本框 24"/>
          <p:cNvSpPr txBox="1"/>
          <p:nvPr userDrawn="1"/>
        </p:nvSpPr>
        <p:spPr>
          <a:xfrm>
            <a:off x="6189012" y="5034245"/>
            <a:ext cx="5257800" cy="131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扫码进群</a:t>
            </a:r>
            <a:endParaRPr lang="en-US" altLang="zh-CN" sz="3200" spc="3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获取最新</a:t>
            </a:r>
            <a:r>
              <a:rPr lang="en-US" altLang="zh-CN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3200" spc="3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资源</a:t>
            </a:r>
            <a:endParaRPr lang="zh-CN" altLang="en-US" sz="3200" spc="3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26" name="图片 25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102" b="76481" l="12778" r="86667">
                        <a14:foregroundMark x1="16111" y1="26204" x2="21667" y2="74074"/>
                        <a14:foregroundMark x1="21667" y1="74074" x2="33056" y2="74028"/>
                        <a14:foregroundMark x1="33056" y1="74028" x2="57963" y2="74491"/>
                        <a14:foregroundMark x1="57963" y1="74491" x2="72130" y2="74306"/>
                        <a14:foregroundMark x1="72130" y1="74306" x2="82593" y2="71435"/>
                        <a14:foregroundMark x1="82593" y1="71435" x2="85556" y2="64769"/>
                        <a14:foregroundMark x1="85556" y1="64769" x2="82222" y2="27176"/>
                        <a14:foregroundMark x1="82222" y1="27176" x2="69444" y2="25648"/>
                        <a14:foregroundMark x1="69444" y1="25648" x2="17407" y2="25926"/>
                        <a14:foregroundMark x1="17407" y1="25926" x2="28981" y2="28009"/>
                        <a14:foregroundMark x1="28981" y1="28009" x2="45185" y2="27546"/>
                        <a14:foregroundMark x1="45185" y1="27546" x2="69815" y2="28935"/>
                        <a14:foregroundMark x1="69815" y1="28935" x2="66296" y2="34676"/>
                        <a14:foregroundMark x1="66296" y1="34676" x2="23148" y2="34861"/>
                        <a14:foregroundMark x1="23148" y1="34861" x2="42685" y2="40046"/>
                        <a14:foregroundMark x1="42685" y1="40046" x2="73148" y2="40185"/>
                        <a14:foregroundMark x1="73148" y1="40185" x2="84537" y2="42731"/>
                        <a14:foregroundMark x1="84537" y1="42731" x2="31019" y2="49398"/>
                        <a14:foregroundMark x1="31019" y1="49398" x2="42685" y2="54491"/>
                        <a14:foregroundMark x1="42685" y1="54491" x2="56111" y2="54954"/>
                        <a14:foregroundMark x1="56111" y1="54954" x2="68611" y2="59028"/>
                        <a14:foregroundMark x1="68611" y1="59028" x2="68981" y2="65787"/>
                        <a14:foregroundMark x1="68981" y1="65787" x2="55833" y2="67778"/>
                        <a14:foregroundMark x1="55833" y1="67778" x2="30000" y2="65787"/>
                        <a14:foregroundMark x1="30000" y1="65787" x2="40556" y2="69259"/>
                        <a14:foregroundMark x1="40556" y1="69259" x2="67500" y2="69259"/>
                        <a14:foregroundMark x1="67500" y1="69259" x2="77870" y2="66944"/>
                        <a14:foregroundMark x1="77870" y1="66944" x2="78056" y2="53056"/>
                        <a14:foregroundMark x1="78056" y1="53056" x2="62037" y2="37963"/>
                        <a14:foregroundMark x1="62037" y1="37963" x2="51389" y2="31759"/>
                        <a14:foregroundMark x1="51389" y1="31759" x2="47778" y2="26296"/>
                        <a14:foregroundMark x1="47778" y1="26296" x2="47407" y2="20648"/>
                        <a14:foregroundMark x1="47407" y1="20648" x2="53889" y2="25602"/>
                        <a14:foregroundMark x1="53889" y1="25602" x2="53889" y2="25602"/>
                        <a14:foregroundMark x1="16944" y1="50648" x2="16389" y2="46481"/>
                        <a14:foregroundMark x1="15185" y1="39028" x2="12778" y2="44676"/>
                        <a14:foregroundMark x1="12778" y1="44676" x2="12778" y2="44676"/>
                        <a14:foregroundMark x1="14259" y1="47963" x2="14907" y2="53935"/>
                        <a14:foregroundMark x1="13426" y1="55833" x2="14630" y2="62546"/>
                        <a14:foregroundMark x1="15185" y1="64213" x2="14259" y2="71204"/>
                        <a14:foregroundMark x1="13981" y1="74028" x2="20556" y2="74306"/>
                        <a14:foregroundMark x1="15833" y1="75093" x2="22315" y2="75231"/>
                        <a14:foregroundMark x1="30648" y1="75231" x2="39352" y2="75370"/>
                        <a14:foregroundMark x1="53056" y1="75370" x2="63148" y2="75972"/>
                        <a14:foregroundMark x1="75648" y1="75509" x2="79815" y2="75509"/>
                        <a14:foregroundMark x1="85556" y1="73565" x2="85556" y2="74907"/>
                        <a14:foregroundMark x1="85833" y1="75833" x2="85833" y2="75833"/>
                        <a14:foregroundMark x1="86389" y1="62685" x2="86389" y2="62685"/>
                        <a14:foregroundMark x1="86111" y1="63750" x2="86111" y2="66574"/>
                        <a14:foregroundMark x1="86667" y1="66574" x2="86667" y2="66574"/>
                        <a14:foregroundMark x1="64352" y1="24722" x2="76019" y2="24398"/>
                        <a14:foregroundMark x1="76019" y1="24398" x2="85556" y2="27546"/>
                        <a14:foregroundMark x1="85556" y1="27546" x2="86389" y2="36620"/>
                        <a14:foregroundMark x1="84352" y1="25000" x2="84352" y2="25000"/>
                        <a14:foregroundMark x1="82870" y1="24583" x2="82870" y2="24583"/>
                        <a14:foregroundMark x1="79259" y1="23843" x2="79259" y2="23843"/>
                        <a14:foregroundMark x1="73333" y1="23843" x2="73333" y2="23843"/>
                        <a14:foregroundMark x1="56019" y1="23843" x2="84630" y2="24583"/>
                        <a14:foregroundMark x1="59907" y1="23843" x2="59907" y2="23843"/>
                        <a14:foregroundMark x1="66759" y1="23657" x2="66759" y2="23657"/>
                        <a14:foregroundMark x1="80741" y1="23981" x2="80741" y2="23981"/>
                        <a14:foregroundMark x1="84630" y1="23981" x2="84630" y2="23981"/>
                        <a14:foregroundMark x1="84907" y1="23843" x2="84907" y2="23843"/>
                        <a14:foregroundMark x1="81667" y1="23519" x2="81667" y2="23519"/>
                        <a14:foregroundMark x1="85556" y1="23981" x2="85556" y2="23981"/>
                        <a14:foregroundMark x1="86389" y1="23843" x2="86389" y2="23843"/>
                        <a14:foregroundMark x1="86667" y1="23657" x2="86667" y2="23657"/>
                        <a14:foregroundMark x1="16111" y1="24861" x2="28056" y2="24583"/>
                        <a14:foregroundMark x1="28056" y1="24583" x2="37500" y2="24583"/>
                        <a14:foregroundMark x1="16944" y1="23981" x2="39630" y2="23380"/>
                        <a14:foregroundMark x1="16667" y1="23657" x2="13981" y2="27546"/>
                        <a14:foregroundMark x1="14259" y1="24398" x2="14259" y2="24398"/>
                        <a14:foregroundMark x1="13981" y1="24120" x2="13981" y2="24120"/>
                        <a14:foregroundMark x1="13148" y1="23657" x2="13148" y2="23657"/>
                        <a14:foregroundMark x1="13426" y1="74769" x2="13426" y2="74769"/>
                        <a14:foregroundMark x1="13426" y1="75231" x2="13426" y2="75231"/>
                        <a14:foregroundMark x1="16389" y1="75833" x2="16389" y2="75833"/>
                        <a14:foregroundMark x1="44722" y1="22037" x2="55463" y2="21898"/>
                        <a14:foregroundMark x1="52778" y1="20093" x2="52778" y2="20093"/>
                        <a14:foregroundMark x1="51574" y1="19352" x2="51574" y2="19352"/>
                        <a14:foregroundMark x1="50648" y1="19352" x2="50648" y2="19352"/>
                        <a14:foregroundMark x1="48889" y1="19352" x2="48889" y2="19352"/>
                        <a14:foregroundMark x1="47963" y1="19352" x2="47963" y2="19352"/>
                        <a14:foregroundMark x1="45000" y1="19954" x2="45000" y2="19954"/>
                        <a14:foregroundMark x1="48704" y1="19074" x2="43704" y2="21111"/>
                        <a14:foregroundMark x1="49630" y1="19074" x2="56389" y2="21574"/>
                        <a14:foregroundMark x1="52500" y1="19676" x2="55556" y2="21296"/>
                        <a14:foregroundMark x1="55185" y1="19769" x2="55185" y2="19769"/>
                        <a14:foregroundMark x1="55185" y1="19769" x2="55185" y2="19769"/>
                        <a14:foregroundMark x1="54444" y1="19398" x2="54444" y2="19398"/>
                        <a14:foregroundMark x1="54074" y1="19398" x2="54074" y2="19398"/>
                        <a14:foregroundMark x1="53796" y1="19167" x2="53796" y2="19167"/>
                        <a14:foregroundMark x1="52870" y1="18889" x2="52870" y2="18889"/>
                        <a14:foregroundMark x1="52870" y1="18889" x2="52870" y2="18889"/>
                        <a14:foregroundMark x1="52500" y1="18796" x2="52500" y2="18796"/>
                        <a14:foregroundMark x1="51574" y1="18611" x2="51574" y2="18611"/>
                        <a14:foregroundMark x1="51111" y1="18611" x2="51111" y2="18611"/>
                        <a14:foregroundMark x1="50370" y1="18611" x2="50370" y2="18611"/>
                        <a14:foregroundMark x1="50185" y1="18611" x2="49630" y2="18704"/>
                        <a14:foregroundMark x1="49630" y1="18704" x2="49630" y2="18704"/>
                        <a14:foregroundMark x1="49444" y1="18704" x2="48426" y2="18889"/>
                        <a14:foregroundMark x1="48426" y1="18889" x2="48426" y2="18889"/>
                        <a14:foregroundMark x1="48426" y1="18889" x2="48426" y2="18889"/>
                        <a14:foregroundMark x1="47130" y1="19167" x2="47130" y2="19167"/>
                        <a14:foregroundMark x1="46389" y1="19306" x2="46389" y2="19306"/>
                        <a14:foregroundMark x1="46019" y1="19306" x2="45741" y2="19583"/>
                        <a14:foregroundMark x1="45741" y1="19583" x2="45741" y2="19583"/>
                        <a14:foregroundMark x1="45000" y1="19769" x2="45000" y2="19769"/>
                        <a14:foregroundMark x1="44444" y1="19954" x2="43704" y2="20231"/>
                        <a14:foregroundMark x1="43519" y1="20231" x2="43519" y2="20231"/>
                        <a14:foregroundMark x1="43426" y1="20324" x2="43426" y2="20324"/>
                        <a14:foregroundMark x1="43056" y1="20417" x2="43056" y2="20417"/>
                        <a14:foregroundMark x1="42500" y1="21019" x2="42500" y2="21019"/>
                        <a14:foregroundMark x1="42315" y1="21019" x2="42130" y2="21389"/>
                        <a14:foregroundMark x1="42130" y1="21389" x2="42130" y2="21389"/>
                        <a14:foregroundMark x1="55741" y1="19676" x2="55741" y2="19676"/>
                        <a14:foregroundMark x1="52870" y1="18611" x2="52870" y2="18611"/>
                        <a14:foregroundMark x1="54630" y1="19259" x2="54630" y2="19259"/>
                        <a14:foregroundMark x1="56944" y1="20509" x2="56944" y2="20509"/>
                        <a14:foregroundMark x1="56759" y1="20231" x2="56759" y2="20231"/>
                        <a14:foregroundMark x1="48056" y1="18426" x2="48056" y2="18426"/>
                        <a14:foregroundMark x1="45370" y1="19074" x2="45370" y2="19074"/>
                        <a14:foregroundMark x1="42870" y1="19815" x2="42870" y2="19815"/>
                        <a14:foregroundMark x1="49167" y1="18333" x2="49167" y2="18333"/>
                        <a14:foregroundMark x1="50370" y1="18102" x2="50370" y2="18102"/>
                        <a14:foregroundMark x1="55556" y1="19352" x2="55556" y2="19352"/>
                        <a14:foregroundMark x1="55833" y1="19352" x2="55833" y2="19352"/>
                        <a14:foregroundMark x1="13889" y1="23287" x2="13889" y2="23287"/>
                        <a14:foregroundMark x1="15463" y1="76481" x2="15463" y2="76481"/>
                        <a14:foregroundMark x1="12778" y1="75926" x2="12778" y2="75926"/>
                        <a14:foregroundMark x1="86574" y1="76389" x2="86574" y2="76389"/>
                        <a14:foregroundMark x1="28426" y1="54352" x2="30278" y2="54259"/>
                        <a14:foregroundMark x1="20370" y1="31250" x2="31852" y2="30880"/>
                        <a14:foregroundMark x1="31852" y1="30880" x2="43056" y2="32454"/>
                        <a14:foregroundMark x1="43056" y1="32454" x2="31389" y2="32361"/>
                        <a14:foregroundMark x1="31389" y1="32361" x2="44537" y2="31574"/>
                        <a14:foregroundMark x1="44537" y1="31574" x2="59722" y2="32222"/>
                        <a14:foregroundMark x1="59722" y1="32222" x2="48333" y2="31667"/>
                        <a14:foregroundMark x1="48333" y1="31667" x2="65000" y2="32454"/>
                        <a14:foregroundMark x1="65000" y1="32454" x2="62870" y2="31574"/>
                        <a14:backgroundMark x1="39630" y1="22315" x2="39630" y2="22315"/>
                        <a14:backgroundMark x1="60370" y1="22500" x2="60370" y2="2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11" t="15293" r="5849" b="20833"/>
          <a:stretch>
            <a:fillRect/>
          </a:stretch>
        </p:blipFill>
        <p:spPr>
          <a:xfrm>
            <a:off x="7710159" y="1823755"/>
            <a:ext cx="2215505" cy="3214715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450258" y="591152"/>
            <a:ext cx="9291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湖北工业大学校园公益演示服务团队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湖工PPT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人的照片上写着字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66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者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穿着西装笔挺的男子与配字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39D1-AC6F-4A93-BBCE-DCC3CE72AE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B8964-42A7-4105-8887-3A12494AC49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l="1655" t="1911" r="1655" b="19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80E31">
                  <a:alpha val="48000"/>
                </a:srgbClr>
              </a:gs>
              <a:gs pos="97000">
                <a:srgbClr val="080E31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447800" y="4375966"/>
            <a:ext cx="50165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4511675" y="4848481"/>
            <a:ext cx="50165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-1962152" y="5118940"/>
            <a:ext cx="50165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/>
          <p:cNvSpPr/>
          <p:nvPr userDrawn="1"/>
        </p:nvSpPr>
        <p:spPr>
          <a:xfrm>
            <a:off x="-5490255" y="1581456"/>
            <a:ext cx="9402762" cy="468007"/>
          </a:xfrm>
          <a:prstGeom prst="parallelogram">
            <a:avLst>
              <a:gd name="adj" fmla="val 44612"/>
            </a:avLst>
          </a:prstGeom>
          <a:gradFill flip="none" rotWithShape="1">
            <a:gsLst>
              <a:gs pos="36000">
                <a:schemeClr val="accent2">
                  <a:alpha val="0"/>
                </a:schemeClr>
              </a:gs>
              <a:gs pos="0">
                <a:schemeClr val="accent2">
                  <a:alpha val="2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3912507" y="5189537"/>
            <a:ext cx="9402762" cy="468007"/>
          </a:xfrm>
          <a:prstGeom prst="parallelogram">
            <a:avLst>
              <a:gd name="adj" fmla="val 44612"/>
            </a:avLst>
          </a:prstGeom>
          <a:gradFill flip="none" rotWithShape="1">
            <a:gsLst>
              <a:gs pos="36000">
                <a:schemeClr val="accent2">
                  <a:alpha val="0"/>
                </a:schemeClr>
              </a:gs>
              <a:gs pos="0">
                <a:schemeClr val="accent2">
                  <a:alpha val="2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7855857" y="5744079"/>
            <a:ext cx="50165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-1388497" y="1459093"/>
            <a:ext cx="50165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平行四边形 14"/>
          <p:cNvSpPr/>
          <p:nvPr userDrawn="1"/>
        </p:nvSpPr>
        <p:spPr>
          <a:xfrm>
            <a:off x="3469595" y="1804367"/>
            <a:ext cx="9402762" cy="468007"/>
          </a:xfrm>
          <a:prstGeom prst="parallelogram">
            <a:avLst>
              <a:gd name="adj" fmla="val 44612"/>
            </a:avLst>
          </a:prstGeom>
          <a:gradFill flip="none" rotWithShape="1">
            <a:gsLst>
              <a:gs pos="36000">
                <a:schemeClr val="accent2">
                  <a:alpha val="0"/>
                </a:schemeClr>
              </a:gs>
              <a:gs pos="0">
                <a:schemeClr val="accent2">
                  <a:alpha val="22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3452059" y="987511"/>
            <a:ext cx="5287883" cy="4882977"/>
            <a:chOff x="3464769" y="1945498"/>
            <a:chExt cx="5287883" cy="4882977"/>
          </a:xfrm>
        </p:grpSpPr>
        <p:sp>
          <p:nvSpPr>
            <p:cNvPr id="17" name="矩形 16"/>
            <p:cNvSpPr/>
            <p:nvPr/>
          </p:nvSpPr>
          <p:spPr>
            <a:xfrm>
              <a:off x="3540968" y="1998691"/>
              <a:ext cx="5211684" cy="482978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8800" b="1" i="1" spc="1000" dirty="0">
                  <a:ln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100000">
                          <a:schemeClr val="accent2"/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215900" dist="1905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版权所有</a:t>
              </a:r>
              <a:endParaRPr lang="en-US" altLang="zh-CN" sz="8800" b="1" i="1" spc="1000" dirty="0"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5400000" scaled="1"/>
                  </a:gradFill>
                </a:ln>
                <a:noFill/>
                <a:effectLst>
                  <a:outerShdw blurRad="215900" dist="190500" dir="270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zh-CN" altLang="en-US" sz="8800" b="1" i="1" spc="1000" dirty="0">
                  <a:ln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100000">
                          <a:schemeClr val="accent2"/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215900" dist="1905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未经授权</a:t>
              </a:r>
              <a:endParaRPr lang="en-US" altLang="zh-CN" sz="8800" b="1" i="1" spc="1000" dirty="0"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5400000" scaled="1"/>
                  </a:gradFill>
                </a:ln>
                <a:noFill/>
                <a:effectLst>
                  <a:outerShdw blurRad="215900" dist="190500" dir="270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zh-CN" altLang="en-US" sz="8800" b="1" i="1" spc="1000" dirty="0">
                  <a:ln>
                    <a:gradFill>
                      <a:gsLst>
                        <a:gs pos="0">
                          <a:schemeClr val="bg1">
                            <a:alpha val="0"/>
                          </a:schemeClr>
                        </a:gs>
                        <a:gs pos="100000">
                          <a:schemeClr val="accent2"/>
                        </a:gs>
                      </a:gsLst>
                      <a:lin ang="5400000" scaled="1"/>
                    </a:gradFill>
                  </a:ln>
                  <a:noFill/>
                  <a:effectLst>
                    <a:outerShdw blurRad="215900" dist="1905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禁止商用</a:t>
              </a:r>
              <a:endParaRPr lang="zh-CN" altLang="en-US" sz="8800" b="1" i="1" spc="1000" dirty="0"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accent2"/>
                      </a:gs>
                    </a:gsLst>
                    <a:lin ang="5400000" scaled="1"/>
                  </a:gradFill>
                </a:ln>
                <a:noFill/>
                <a:effectLst>
                  <a:outerShdw blurRad="215900" dist="190500" dir="270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464769" y="1945498"/>
              <a:ext cx="5211683" cy="482978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8800" b="1" i="1" spc="1000" dirty="0">
                  <a:gradFill>
                    <a:gsLst>
                      <a:gs pos="0">
                        <a:srgbClr val="A1F1E7"/>
                      </a:gs>
                      <a:gs pos="58000">
                        <a:prstClr val="white"/>
                      </a:gs>
                      <a:gs pos="27000">
                        <a:prstClr val="white"/>
                      </a:gs>
                      <a:gs pos="73000">
                        <a:srgbClr val="C0F6F0"/>
                      </a:gs>
                      <a:gs pos="89000">
                        <a:prstClr val="white"/>
                      </a:gs>
                    </a:gsLst>
                    <a:lin ang="2700000" scaled="0"/>
                  </a:gradFill>
                  <a:effectLst>
                    <a:outerShdw blurRad="215900" dist="1905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版权所有</a:t>
              </a:r>
              <a:endParaRPr lang="en-US" altLang="zh-CN" sz="8800" b="1" i="1" spc="1000" dirty="0">
                <a:gradFill>
                  <a:gsLst>
                    <a:gs pos="0">
                      <a:srgbClr val="A1F1E7"/>
                    </a:gs>
                    <a:gs pos="58000">
                      <a:prstClr val="white"/>
                    </a:gs>
                    <a:gs pos="27000">
                      <a:prstClr val="white"/>
                    </a:gs>
                    <a:gs pos="73000">
                      <a:srgbClr val="C0F6F0"/>
                    </a:gs>
                    <a:gs pos="89000">
                      <a:prstClr val="white"/>
                    </a:gs>
                  </a:gsLst>
                  <a:lin ang="2700000" scaled="0"/>
                </a:gradFill>
                <a:effectLst>
                  <a:outerShdw blurRad="215900" dist="190500" dir="270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zh-CN" altLang="en-US" sz="8800" b="1" i="1" spc="1000" dirty="0">
                  <a:gradFill>
                    <a:gsLst>
                      <a:gs pos="0">
                        <a:srgbClr val="A1F1E7"/>
                      </a:gs>
                      <a:gs pos="58000">
                        <a:prstClr val="white"/>
                      </a:gs>
                      <a:gs pos="27000">
                        <a:prstClr val="white"/>
                      </a:gs>
                      <a:gs pos="73000">
                        <a:srgbClr val="C0F6F0"/>
                      </a:gs>
                      <a:gs pos="89000">
                        <a:prstClr val="white"/>
                      </a:gs>
                    </a:gsLst>
                    <a:lin ang="2700000" scaled="0"/>
                  </a:gradFill>
                  <a:effectLst>
                    <a:outerShdw blurRad="215900" dist="1905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未经授权</a:t>
              </a:r>
              <a:endParaRPr lang="en-US" altLang="zh-CN" sz="8800" b="1" i="1" spc="1000" dirty="0">
                <a:gradFill>
                  <a:gsLst>
                    <a:gs pos="0">
                      <a:srgbClr val="A1F1E7"/>
                    </a:gs>
                    <a:gs pos="58000">
                      <a:prstClr val="white"/>
                    </a:gs>
                    <a:gs pos="27000">
                      <a:prstClr val="white"/>
                    </a:gs>
                    <a:gs pos="73000">
                      <a:srgbClr val="C0F6F0"/>
                    </a:gs>
                    <a:gs pos="89000">
                      <a:prstClr val="white"/>
                    </a:gs>
                  </a:gsLst>
                  <a:lin ang="2700000" scaled="0"/>
                </a:gradFill>
                <a:effectLst>
                  <a:outerShdw blurRad="215900" dist="190500" dir="270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zh-CN" altLang="en-US" sz="8800" b="1" i="1" spc="1000" dirty="0">
                  <a:gradFill>
                    <a:gsLst>
                      <a:gs pos="0">
                        <a:srgbClr val="A1F1E7"/>
                      </a:gs>
                      <a:gs pos="58000">
                        <a:prstClr val="white"/>
                      </a:gs>
                      <a:gs pos="27000">
                        <a:prstClr val="white"/>
                      </a:gs>
                      <a:gs pos="73000">
                        <a:srgbClr val="C0F6F0"/>
                      </a:gs>
                      <a:gs pos="89000">
                        <a:prstClr val="white"/>
                      </a:gs>
                    </a:gsLst>
                    <a:lin ang="2700000" scaled="0"/>
                  </a:gradFill>
                  <a:effectLst>
                    <a:outerShdw blurRad="215900" dist="1905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禁止商用</a:t>
              </a:r>
              <a:endParaRPr lang="zh-CN" altLang="en-US" sz="8800" b="1" i="1" spc="1000" dirty="0">
                <a:gradFill>
                  <a:gsLst>
                    <a:gs pos="0">
                      <a:srgbClr val="A1F1E7"/>
                    </a:gs>
                    <a:gs pos="58000">
                      <a:prstClr val="white"/>
                    </a:gs>
                    <a:gs pos="27000">
                      <a:prstClr val="white"/>
                    </a:gs>
                    <a:gs pos="73000">
                      <a:srgbClr val="C0F6F0"/>
                    </a:gs>
                    <a:gs pos="89000">
                      <a:prstClr val="white"/>
                    </a:gs>
                  </a:gsLst>
                  <a:lin ang="2700000" scaled="0"/>
                </a:gradFill>
                <a:effectLst>
                  <a:outerShdw blurRad="215900" dist="190500" dir="270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4A0C0-55AF-42AF-8EB2-D002AFE560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66BCA-CFF6-4E13-8228-B36EC4F3B70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FEDCF-E147-44F7-835A-5FF0F656AC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F78B7-AA99-46D3-9EC1-8336101F33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占位符 22"/>
          <p:cNvSpPr>
            <a:spLocks noGrp="1"/>
          </p:cNvSpPr>
          <p:nvPr>
            <p:ph type="body" sz="quarter" idx="13"/>
          </p:nvPr>
        </p:nvSpPr>
        <p:spPr>
          <a:xfrm>
            <a:off x="3786160" y="2849373"/>
            <a:ext cx="4953000" cy="457200"/>
          </a:xfrm>
        </p:spPr>
        <p:txBody>
          <a:bodyPr>
            <a:noAutofit/>
          </a:bodyPr>
          <a:lstStyle/>
          <a:p>
            <a:r>
              <a:rPr lang="zh-CN" sz="3600" spc="300" dirty="0">
                <a:solidFill>
                  <a:schemeClr val="tx1"/>
                </a:solidFill>
              </a:rPr>
              <a:t>工作汇报</a:t>
            </a:r>
            <a:r>
              <a:rPr lang="en-US" altLang="zh-CN" sz="3600" spc="300" dirty="0">
                <a:solidFill>
                  <a:schemeClr val="tx1"/>
                </a:solidFill>
              </a:rPr>
              <a:t>-8.17</a:t>
            </a:r>
            <a:endParaRPr lang="en-US" altLang="zh-CN" sz="3600" spc="3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本周成绩总览</a:t>
            </a:r>
            <a:endParaRPr kumimoji="1"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84580" y="190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4472C4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0" y="1960000"/>
            <a:ext cx="9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262626"/>
                </a:solidFill>
              </a:rPr>
              <a:t>全自动采集轨迹打通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全局拍照锁定果实 → 自动规划接近轨迹 → 边运动边局部采集重建，全程无需人工示教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580" y="307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4472C4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0" y="3130000"/>
            <a:ext cx="9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262626"/>
                </a:solidFill>
              </a:rPr>
              <a:t>果实 UUID 全程固定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世界系空间匹配注册，目标遮挡 / 出视野后重现 ID 不变，批次内不重复、不漂移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4580" y="424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4472C4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4300000"/>
            <a:ext cx="9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262626"/>
                </a:solidFill>
              </a:rPr>
              <a:t>采摘批次闭环全链路落地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拍照前置 → 收齐锁定 → 逐目标记账 → 复扫递减 → 自动总结，27 个批次落盘可追溯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580" y="541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4472C4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5470000"/>
            <a:ext cx="9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262626"/>
                </a:solidFill>
              </a:rPr>
              <a:t>抓取链路重构完成，真机联调启动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行为树 + 周期状态机 + 安全门；单元测试与 lint 全绿，8-13 完成首轮真机联调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全局 → 局部图像采集自动轨迹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84580" y="1900555"/>
            <a:ext cx="580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全局拍照位姿锁定全部果实，再按优先级自动规划接近轨迹，边运动边完成局部采集与在线重建——全程无需人工示教。</a:t>
            </a:r>
            <a:endParaRPr lang="en-US" altLang="zh-CN"/>
          </a:p>
        </p:txBody>
      </p:sp>
      <p:pic>
        <p:nvPicPr>
          <p:cNvPr id="7" name="Picture 6" descr="flow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788" y="1500000"/>
            <a:ext cx="4148214" cy="505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果实 UUID（target_id）固定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84580" y="1900555"/>
            <a:ext cx="1000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果实 ID 世界系空间匹配注册、EMA 平滑：遮挡或出视野后重新出现 ID 不变，批次内不重复、不漂移。</a:t>
            </a:r>
            <a:endParaRPr lang="en-US" altLang="zh-CN"/>
          </a:p>
        </p:txBody>
      </p:sp>
      <p:pic>
        <p:nvPicPr>
          <p:cNvPr id="7" name="Picture 6" descr="uuid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00" y="2750000"/>
            <a:ext cx="6080000" cy="3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批次闭环与工程化</a:t>
            </a:r>
            <a:endParaRPr kumimoji="1"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84580" y="1900000"/>
            <a:ext cx="101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</a:rPr>
              <a:t>批次闭环跑通：拍照前置 → 感知锁定 → 逐目标分级记账 → 复扫递减 → HarvestSummary 收尾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</a:rPr>
              <a:t>跳过 / 取消真实取消活动 goal；本周 27 个批次全程落盘（事件流 + 清单）可追溯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</a:rPr>
              <a:t>抓取链路重构：行为树 + CycleState 状态机 + 安全门，outcome 四级分级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</a:rPr>
              <a:t>重建采集门控 capture_gate 上线；监控台改为只读；单元测试与 lint 全绿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62626"/>
                </a:solidFill>
              </a:rPr>
              <a:t>8-13 完成首轮采摘全链路真机联调（中间态），全流程验证推进中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4580" y="455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</a:rPr>
              <a:t>监控台实拍：批次完成，目标成功，进度 100%</a:t>
            </a:r>
          </a:p>
        </p:txBody>
      </p:sp>
      <p:pic>
        <p:nvPicPr>
          <p:cNvPr id="5" name="Picture 4" descr="crop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07" y="4900000"/>
            <a:ext cx="5084745" cy="15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VECTOR" val="#189081;"/>
</p:tagLst>
</file>

<file path=ppt/tags/tag2.xml><?xml version="1.0" encoding="utf-8"?>
<p:tagLst xmlns:p="http://schemas.openxmlformats.org/presentationml/2006/main">
  <p:tag name="resource_record_key" val="{&quot;29&quot;:[5000015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WPS 表格</Application>
  <PresentationFormat>宽屏</PresentationFormat>
  <Paragraphs>14</Paragraphs>
  <Slides>2</Slides>
  <Notes>3</Notes>
  <HiddenSlides>0</HiddenSlides>
  <MMClips>3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6" baseType="lpstr">
      <vt:lpstr>Arial</vt:lpstr>
      <vt:lpstr>宋体</vt:lpstr>
      <vt:lpstr>Wingdings</vt:lpstr>
      <vt:lpstr>阿里巴巴普惠体 Heavy</vt:lpstr>
      <vt:lpstr>苹方-简</vt:lpstr>
      <vt:lpstr>阿里巴巴普惠体 B</vt:lpstr>
      <vt:lpstr>阿里巴巴普惠体 Light</vt:lpstr>
      <vt:lpstr>微软雅黑</vt:lpstr>
      <vt:lpstr>方正雅意黑 GB18030L2</vt:lpstr>
      <vt:lpstr>思源黑体 CN Heavy</vt:lpstr>
      <vt:lpstr>汉仪中黑KW</vt:lpstr>
      <vt:lpstr>等线</vt:lpstr>
      <vt:lpstr>汉仪中等线KW</vt:lpstr>
      <vt:lpstr>宋体</vt:lpstr>
      <vt:lpstr>Arial Unicode MS</vt:lpstr>
      <vt:lpstr>等线 Light</vt:lpstr>
      <vt:lpstr>Calibri</vt:lpstr>
      <vt:lpstr>Helvetica Neue</vt:lpstr>
      <vt:lpstr>汉仪书宋二KW</vt:lpstr>
      <vt:lpstr>Thonburi</vt:lpstr>
      <vt:lpstr>微软雅黑</vt:lpstr>
      <vt:lpstr>等线</vt:lpstr>
      <vt:lpstr>Office 主题​​</vt:lpstr>
      <vt:lpstr>自定义设计方案</vt:lpstr>
      <vt:lpstr>PowerPoint 演示文稿</vt:lpstr>
      <vt:lpstr>项目名称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湖北工业大学PPT模板3.0</dc:title>
  <dc:creator>yi zongyu;易宗宇</dc:creator>
  <cp:keywords>湖工PPT演示团队</cp:keywords>
  <dc:description>版权所有 未经授权 禁止商用</dc:description>
  <cp:category>简约学术风</cp:category>
  <cp:lastModifiedBy>tang</cp:lastModifiedBy>
  <cp:revision>266</cp:revision>
  <dcterms:created xsi:type="dcterms:W3CDTF">2026-08-13T11:56:37Z</dcterms:created>
  <dcterms:modified xsi:type="dcterms:W3CDTF">2026-08-13T11:56:37Z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0BB9A4F38E892B46F5B07D6AD45CFB2D_43</vt:lpwstr>
  </property>
  <property fmtid="{D5CDD505-2E9C-101B-9397-08002B2CF9AE}" pid="3" name="KSOProductBuildVer">
    <vt:lpwstr>2052-12.1.26046.26046</vt:lpwstr>
  </property>
</Properties>
</file>